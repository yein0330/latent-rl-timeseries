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x="24384000" cy="13716000"/>
  <p:notesSz cx="6858000" cy="9144000"/>
  <p:embeddedFontLst>
    <p:embeddedFont>
      <p:font typeface="Lexend Bold"/>
      <p:bold r:id="rId52"/>
    </p:embeddedFont>
    <p:embeddedFont>
      <p:font typeface="Heebo Light"/>
      <p:regular r:id="rId53"/>
    </p:embeddedFont>
    <p:embeddedFont>
      <p:font typeface="Heebo ExtraBold"/>
      <p:bold r:id="rId54"/>
    </p:embeddedFont>
    <p:embeddedFont>
      <p:font typeface="Heebo ExtraLight"/>
      <p:regular r:id="rId55"/>
    </p:embeddedFont>
    <p:embeddedFont>
      <p:font typeface="Heebo Regular"/>
      <p:regular r:id="rId56"/>
    </p:embeddedFont>
    <p:embeddedFont>
      <p:font typeface="Lexend SemiBold"/>
      <p:bold r:id="rId57"/>
    </p:embeddedFont>
    <p:embeddedFont>
      <p:font typeface="Lexend Regular"/>
      <p:regular r:id="rId58"/>
    </p:embeddedFont>
    <p:embeddedFont>
      <p:font typeface="Pretendard Regular"/>
      <p:regular r:id="rId59"/>
    </p:embeddedFont>
    <p:embeddedFont>
      <p:font typeface="Heebo Medium"/>
      <p:bold r:id="rId60"/>
    </p:embeddedFont>
    <p:embeddedFont>
      <p:font typeface="Heebo SemiBold"/>
      <p:bold r:id="rId61"/>
    </p:embeddedFont>
    <p:embeddedFont>
      <p:font typeface="Pretendard Black"/>
      <p:bold r:id="rId6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fonts/font1.fntdata" Type="http://schemas.openxmlformats.org/officeDocument/2006/relationships/font"/><Relationship Id="rId53" Target="fonts/font2.fntdata" Type="http://schemas.openxmlformats.org/officeDocument/2006/relationships/font"/><Relationship Id="rId54" Target="fonts/font3.fntdata" Type="http://schemas.openxmlformats.org/officeDocument/2006/relationships/font"/><Relationship Id="rId55" Target="fonts/font4.fntdata" Type="http://schemas.openxmlformats.org/officeDocument/2006/relationships/font"/><Relationship Id="rId56" Target="fonts/font5.fntdata" Type="http://schemas.openxmlformats.org/officeDocument/2006/relationships/font"/><Relationship Id="rId57" Target="fonts/font6.fntdata" Type="http://schemas.openxmlformats.org/officeDocument/2006/relationships/font"/><Relationship Id="rId58" Target="fonts/font7.fntdata" Type="http://schemas.openxmlformats.org/officeDocument/2006/relationships/font"/><Relationship Id="rId59" Target="fonts/font8.fntdata" Type="http://schemas.openxmlformats.org/officeDocument/2006/relationships/font"/><Relationship Id="rId6" Target="slides/slide1.xml" Type="http://schemas.openxmlformats.org/officeDocument/2006/relationships/slide"/><Relationship Id="rId60" Target="fonts/font9.fntdata" Type="http://schemas.openxmlformats.org/officeDocument/2006/relationships/font"/><Relationship Id="rId61" Target="fonts/font10.fntdata" Type="http://schemas.openxmlformats.org/officeDocument/2006/relationships/font"/><Relationship Id="rId62" Target="fonts/font11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2" Target="../media/image5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45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../media/image5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51.png" Type="http://schemas.openxmlformats.org/officeDocument/2006/relationships/image"/><Relationship Id="rId5" Target="../media/image59.png" Type="http://schemas.openxmlformats.org/officeDocument/2006/relationships/image"/><Relationship Id="rId6" Target="../media/image53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62.png" Type="http://schemas.openxmlformats.org/officeDocument/2006/relationships/image"/><Relationship Id="rId5" Target="../media/image59.png" Type="http://schemas.openxmlformats.org/officeDocument/2006/relationships/image"/><Relationship Id="rId6" Target="../media/image63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Relationship Id="rId6" Target="../media/image64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65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65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65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65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66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65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67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68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69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0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0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2743200"/>
            <a:ext cx="1270000" cy="8229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2743200"/>
            <a:ext cx="1270000" cy="2654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516600" y="12407900"/>
            <a:ext cx="3505200" cy="431800"/>
          </a:xfrm>
          <a:prstGeom prst="rect">
            <a:avLst/>
          </a:prstGeom>
        </p:spPr>
        <p:txBody>
          <a:bodyPr anchor="t" rtlCol="false" lIns="0" tIns="30480" rIns="0" bIns="0"/>
          <a:lstStyle/>
          <a:p>
            <a:pPr algn="r" lvl="0">
              <a:lnSpc>
                <a:spcPct val="99600"/>
              </a:lnSpc>
            </a:pPr>
            <a:r>
              <a:rPr lang="en" sz="2400" b="false" i="false" u="none" strike="noStrike" spc="-24">
                <a:solidFill>
                  <a:srgbClr val="000000"/>
                </a:solidFill>
                <a:latin typeface="Lexend Bold"/>
              </a:rPr>
              <a:t>sogang univiersity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94200" y="9410700"/>
            <a:ext cx="5422900" cy="1663700"/>
          </a:xfrm>
          <a:prstGeom prst="rect">
            <a:avLst/>
          </a:prstGeom>
        </p:spPr>
        <p:txBody>
          <a:bodyPr anchor="b" rtlCol="false" lIns="0" tIns="0" rIns="0" bIns="60960"/>
          <a:lstStyle/>
          <a:p>
            <a:pPr algn="r" lvl="0">
              <a:lnSpc>
                <a:spcPct val="91299"/>
              </a:lnSpc>
            </a:pPr>
            <a:r>
              <a:rPr lang="en" sz="3200" b="false" i="false" u="none" strike="noStrike">
                <a:solidFill>
                  <a:srgbClr val="000000"/>
                </a:solidFill>
                <a:latin typeface="Heebo Light"/>
              </a:rPr>
              <a:t>120250656</a:t>
            </a:r>
          </a:p>
          <a:p>
            <a:pPr algn="r" lvl="0">
              <a:lnSpc>
                <a:spcPct val="91299"/>
              </a:lnSpc>
            </a:pPr>
            <a:r>
              <a:rPr lang="ko-KR" sz="3200" b="false" i="false" u="none" strike="noStrike">
                <a:solidFill>
                  <a:srgbClr val="000000"/>
                </a:solidFill>
                <a:ea typeface="Heebo Light"/>
              </a:rPr>
              <a:t>컴퓨터공학과</a:t>
            </a:r>
            <a:r>
              <a:rPr lang="en-US" sz="3200" b="false" i="false" u="none" strike="noStrike">
                <a:solidFill>
                  <a:srgbClr val="000000"/>
                </a:solidFill>
                <a:latin typeface="Heebo Light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Heebo Light"/>
              </a:rPr>
              <a:t>석사과정</a:t>
            </a:r>
            <a:r>
              <a:rPr lang="en-US" sz="3200" b="false" i="false" u="none" strike="noStrike">
                <a:solidFill>
                  <a:srgbClr val="000000"/>
                </a:solidFill>
                <a:latin typeface="Heebo Light"/>
              </a:rPr>
              <a:t> </a:t>
            </a:r>
          </a:p>
          <a:p>
            <a:pPr algn="r" lvl="0">
              <a:lnSpc>
                <a:spcPct val="91299"/>
              </a:lnSpc>
            </a:pPr>
            <a:r>
              <a:rPr lang="ko-KR" sz="3200" b="false" i="false" u="none" strike="noStrike">
                <a:solidFill>
                  <a:srgbClr val="000000"/>
                </a:solidFill>
                <a:ea typeface="Heebo Light"/>
              </a:rPr>
              <a:t>이예인</a:t>
            </a:r>
            <a:r>
              <a:rPr lang="en-US" sz="3200" b="false" i="false" u="none" strike="noStrike">
                <a:solidFill>
                  <a:srgbClr val="000000"/>
                </a:solidFill>
                <a:latin typeface="Heebo Light"/>
              </a:rPr>
              <a:t> Snapshot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3800" y="2743200"/>
            <a:ext cx="13233400" cy="5486400"/>
          </a:xfrm>
          <a:prstGeom prst="rect">
            <a:avLst/>
          </a:prstGeom>
        </p:spPr>
        <p:txBody>
          <a:bodyPr anchor="t" rtlCol="false" lIns="0" tIns="203200" rIns="0" bIns="0"/>
          <a:lstStyle/>
          <a:p>
            <a:pPr algn="l" lvl="0">
              <a:lnSpc>
                <a:spcPct val="83000"/>
              </a:lnSpc>
            </a:pPr>
            <a:r>
              <a:rPr lang="en" sz="8000" b="false" i="false" u="none" strike="noStrike">
                <a:solidFill>
                  <a:srgbClr val="000000"/>
                </a:solidFill>
                <a:latin typeface="Lexend Bold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63800" y="965200"/>
            <a:ext cx="13017500" cy="1308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br>
              <a:rPr/>
            </a:br>
            <a:r>
              <a:rPr lang="ko-KR" sz="2400" b="false" i="false" u="none" strike="noStrike">
                <a:solidFill>
                  <a:srgbClr val="000000"/>
                </a:solidFill>
                <a:ea typeface="Heebo Light"/>
              </a:rPr>
              <a:t>강화</a:t>
            </a:r>
            <a:r>
              <a:rPr lang="en-US" sz="2400" b="false" i="false" u="none" strike="noStrike">
                <a:solidFill>
                  <a:srgbClr val="000000"/>
                </a:solidFill>
                <a:latin typeface="Heebo Light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Heebo Light"/>
              </a:rPr>
              <a:t>학습</a:t>
            </a:r>
            <a:r>
              <a:rPr lang="en-US" sz="2400" b="false" i="false" u="none" strike="noStrike">
                <a:solidFill>
                  <a:srgbClr val="000000"/>
                </a:solidFill>
                <a:latin typeface="Heebo Light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Heebo Light"/>
              </a:rPr>
              <a:t>개론</a:t>
            </a:r>
            <a:r>
              <a:rPr lang="en-US" sz="2400" b="false" i="false" u="none" strike="noStrike">
                <a:solidFill>
                  <a:srgbClr val="000000"/>
                </a:solidFill>
                <a:latin typeface="Heebo Light"/>
              </a:rPr>
              <a:t> (CSE5516-01)
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034500" y="12230100"/>
            <a:ext cx="952500" cy="774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2743200"/>
            <a:ext cx="1270000" cy="8229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2743200"/>
            <a:ext cx="1270000" cy="2654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516600" y="12407900"/>
            <a:ext cx="3505200" cy="431800"/>
          </a:xfrm>
          <a:prstGeom prst="rect">
            <a:avLst/>
          </a:prstGeom>
        </p:spPr>
        <p:txBody>
          <a:bodyPr anchor="t" rtlCol="false" lIns="0" tIns="30480" rIns="0" bIns="0"/>
          <a:lstStyle/>
          <a:p>
            <a:pPr algn="r" lvl="0">
              <a:lnSpc>
                <a:spcPct val="99600"/>
              </a:lnSpc>
            </a:pPr>
            <a:r>
              <a:rPr lang="en" sz="2400" b="false" i="false" u="none" strike="noStrike" spc="-24">
                <a:solidFill>
                  <a:srgbClr val="000000"/>
                </a:solidFill>
                <a:latin typeface="Lexend Bold"/>
              </a:rPr>
              <a:t>sogang univiersity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94200" y="9410700"/>
            <a:ext cx="5422900" cy="1663700"/>
          </a:xfrm>
          <a:prstGeom prst="rect">
            <a:avLst/>
          </a:prstGeom>
        </p:spPr>
        <p:txBody>
          <a:bodyPr anchor="b" rtlCol="false" lIns="0" tIns="0" rIns="0" bIns="60960"/>
          <a:lstStyle/>
          <a:p>
            <a:pPr algn="r" lvl="0">
              <a:lnSpc>
                <a:spcPct val="91299"/>
              </a:lnSpc>
            </a:pPr>
            <a:r>
              <a:rPr lang="en" sz="3200" b="false" i="false" u="none" strike="noStrike">
                <a:solidFill>
                  <a:srgbClr val="000000"/>
                </a:solidFill>
                <a:latin typeface="Heebo Light"/>
              </a:rPr>
              <a:t>120250656</a:t>
            </a:r>
          </a:p>
          <a:p>
            <a:pPr algn="r" lvl="0">
              <a:lnSpc>
                <a:spcPct val="91299"/>
              </a:lnSpc>
            </a:pPr>
            <a:r>
              <a:rPr lang="ko-KR" sz="3200" b="false" i="false" u="none" strike="noStrike">
                <a:solidFill>
                  <a:srgbClr val="000000"/>
                </a:solidFill>
                <a:ea typeface="Heebo Light"/>
              </a:rPr>
              <a:t>컴퓨터공학과</a:t>
            </a:r>
            <a:r>
              <a:rPr lang="en-US" sz="3200" b="false" i="false" u="none" strike="noStrike">
                <a:solidFill>
                  <a:srgbClr val="000000"/>
                </a:solidFill>
                <a:latin typeface="Heebo Light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Heebo Light"/>
              </a:rPr>
              <a:t>석사과정</a:t>
            </a:r>
            <a:r>
              <a:rPr lang="en-US" sz="3200" b="false" i="false" u="none" strike="noStrike">
                <a:solidFill>
                  <a:srgbClr val="000000"/>
                </a:solidFill>
                <a:latin typeface="Heebo Light"/>
              </a:rPr>
              <a:t> </a:t>
            </a:r>
          </a:p>
          <a:p>
            <a:pPr algn="r" lvl="0">
              <a:lnSpc>
                <a:spcPct val="91299"/>
              </a:lnSpc>
            </a:pPr>
            <a:r>
              <a:rPr lang="ko-KR" sz="3200" b="false" i="false" u="none" strike="noStrike">
                <a:solidFill>
                  <a:srgbClr val="000000"/>
                </a:solidFill>
                <a:ea typeface="Heebo Light"/>
              </a:rPr>
              <a:t>이예인</a:t>
            </a:r>
            <a:r>
              <a:rPr lang="en-US" sz="3200" b="false" i="false" u="none" strike="noStrike">
                <a:solidFill>
                  <a:srgbClr val="000000"/>
                </a:solidFill>
                <a:latin typeface="Heebo Light"/>
              </a:rPr>
              <a:t> Snapshot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54300" y="3263900"/>
            <a:ext cx="13233400" cy="5245100"/>
          </a:xfrm>
          <a:prstGeom prst="rect">
            <a:avLst/>
          </a:prstGeom>
        </p:spPr>
        <p:txBody>
          <a:bodyPr anchor="t" rtlCol="false" lIns="0" tIns="203200" rIns="0" bIns="0"/>
          <a:lstStyle/>
          <a:p>
            <a:pPr algn="l" lvl="0">
              <a:lnSpc>
                <a:spcPct val="83000"/>
              </a:lnSpc>
            </a:pPr>
            <a:r>
              <a:rPr lang="en" sz="8000" b="false" i="false" u="none" strike="noStrike">
                <a:solidFill>
                  <a:srgbClr val="000000"/>
                </a:solidFill>
                <a:latin typeface="Lexend Bold"/>
              </a:rPr>
              <a:t>https://github.com/yein0330/latent-rl-timeseries.git </a:t>
            </a:r>
          </a:p>
          <a:p>
            <a:pPr algn="l" lvl="0">
              <a:lnSpc>
                <a:spcPct val="83000"/>
              </a:lnSpc>
            </a:pPr>
            <a:r>
              <a:rPr lang="en" sz="8000" b="false" i="false" u="none" strike="noStrike">
                <a:solidFill>
                  <a:srgbClr val="000000"/>
                </a:solidFill>
                <a:latin typeface="Lexend Bold"/>
              </a:rPr>
              <a:t/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63800" y="965200"/>
            <a:ext cx="13017500" cy="1308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br>
              <a:rPr/>
            </a:br>
            <a:r>
              <a:rPr lang="ko-KR" sz="2400" b="false" i="false" u="none" strike="noStrike">
                <a:solidFill>
                  <a:srgbClr val="000000"/>
                </a:solidFill>
                <a:ea typeface="Heebo Light"/>
              </a:rPr>
              <a:t>강화</a:t>
            </a:r>
            <a:r>
              <a:rPr lang="en-US" sz="2400" b="false" i="false" u="none" strike="noStrike">
                <a:solidFill>
                  <a:srgbClr val="000000"/>
                </a:solidFill>
                <a:latin typeface="Heebo Light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Heebo Light"/>
              </a:rPr>
              <a:t>학습</a:t>
            </a:r>
            <a:r>
              <a:rPr lang="en-US" sz="2400" b="false" i="false" u="none" strike="noStrike">
                <a:solidFill>
                  <a:srgbClr val="000000"/>
                </a:solidFill>
                <a:latin typeface="Heebo Light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Heebo Light"/>
              </a:rPr>
              <a:t>개론</a:t>
            </a:r>
            <a:r>
              <a:rPr lang="en-US" sz="2400" b="false" i="false" u="none" strike="noStrike">
                <a:solidFill>
                  <a:srgbClr val="000000"/>
                </a:solidFill>
                <a:latin typeface="Heebo Light"/>
              </a:rPr>
              <a:t> (CSE5516-01)
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034500" y="12230100"/>
            <a:ext cx="952500" cy="774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54300" y="73406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6311900" cy="28448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Table of Contents.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4318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47800" y="3429000"/>
            <a:ext cx="9740900" cy="6896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660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Light"/>
              </a:rPr>
              <a:t>Introduction</a:t>
            </a:r>
          </a:p>
          <a:p>
            <a:pPr algn="l" lvl="0">
              <a:lnSpc>
                <a:spcPct val="1660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Light"/>
              </a:rPr>
              <a:t>Project Overview</a:t>
            </a:r>
          </a:p>
          <a:p>
            <a:pPr algn="l" lvl="0">
              <a:lnSpc>
                <a:spcPct val="1660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Light"/>
              </a:rPr>
              <a:t>Dataset</a:t>
            </a:r>
          </a:p>
          <a:p>
            <a:pPr algn="l" lvl="0">
              <a:lnSpc>
                <a:spcPct val="1660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Light"/>
              </a:rPr>
              <a:t>Reinforcement Learnin Algorithm</a:t>
            </a:r>
          </a:p>
          <a:p>
            <a:pPr algn="l" lvl="0">
              <a:lnSpc>
                <a:spcPct val="1660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Light"/>
              </a:rPr>
              <a:t>Model Arichtecture &amp; Hyperparameters</a:t>
            </a:r>
          </a:p>
          <a:p>
            <a:pPr algn="l" lvl="0">
              <a:lnSpc>
                <a:spcPct val="1660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Light"/>
              </a:rPr>
              <a:t>Experiment Setup</a:t>
            </a:r>
          </a:p>
          <a:p>
            <a:pPr algn="l" lvl="0">
              <a:lnSpc>
                <a:spcPct val="1660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Light"/>
              </a:rPr>
              <a:t>Results</a:t>
            </a:r>
          </a:p>
          <a:p>
            <a:pPr algn="l" lvl="0">
              <a:lnSpc>
                <a:spcPct val="1660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Light"/>
              </a:rPr>
              <a:t>Conclusion &amp; Future 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20500" y="3416300"/>
            <a:ext cx="2120900" cy="68961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660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Bold"/>
              </a:rPr>
              <a:t>001</a:t>
            </a:r>
          </a:p>
          <a:p>
            <a:pPr algn="r" lvl="0">
              <a:lnSpc>
                <a:spcPct val="1660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Bold"/>
              </a:rPr>
              <a:t>002</a:t>
            </a:r>
          </a:p>
          <a:p>
            <a:pPr algn="r" lvl="0">
              <a:lnSpc>
                <a:spcPct val="1660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Bold"/>
              </a:rPr>
              <a:t>003</a:t>
            </a:r>
          </a:p>
          <a:p>
            <a:pPr algn="r" lvl="0">
              <a:lnSpc>
                <a:spcPct val="1660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Bold"/>
              </a:rPr>
              <a:t>004</a:t>
            </a:r>
          </a:p>
          <a:p>
            <a:pPr algn="r" lvl="0">
              <a:lnSpc>
                <a:spcPct val="1660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Bold"/>
              </a:rPr>
              <a:t>005</a:t>
            </a:r>
          </a:p>
          <a:p>
            <a:pPr algn="r" lvl="0">
              <a:lnSpc>
                <a:spcPct val="1660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Bold"/>
              </a:rPr>
              <a:t>006</a:t>
            </a:r>
          </a:p>
          <a:p>
            <a:pPr algn="r" lvl="0">
              <a:lnSpc>
                <a:spcPct val="1660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Bold"/>
              </a:rPr>
              <a:t>007</a:t>
            </a:r>
          </a:p>
          <a:p>
            <a:pPr algn="r" lvl="0">
              <a:lnSpc>
                <a:spcPct val="1660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Bold"/>
              </a:rPr>
              <a:t>008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16600" y="12407900"/>
            <a:ext cx="3505200" cy="431800"/>
          </a:xfrm>
          <a:prstGeom prst="rect">
            <a:avLst/>
          </a:prstGeom>
        </p:spPr>
        <p:txBody>
          <a:bodyPr anchor="t" rtlCol="false" lIns="0" tIns="30480" rIns="0" bIns="0"/>
          <a:lstStyle/>
          <a:p>
            <a:pPr algn="r" lvl="0">
              <a:lnSpc>
                <a:spcPct val="99600"/>
              </a:lnSpc>
            </a:pPr>
            <a:r>
              <a:rPr lang="en" sz="2400" b="false" i="false" u="none" strike="noStrike" spc="-24">
                <a:solidFill>
                  <a:srgbClr val="000000"/>
                </a:solidFill>
                <a:latin typeface="Lexend Bold"/>
              </a:rPr>
              <a:t>sogang univiersity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034500" y="12230100"/>
            <a:ext cx="952500" cy="774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0083800" cy="16637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01. 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95300" y="5905500"/>
            <a:ext cx="9283700" cy="66675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시계열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데이터는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본질적으로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다음과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같은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어려움이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존재한다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:</a:t>
            </a:r>
          </a:p>
          <a:p>
            <a:pPr algn="l" lvl="2" indent="-342900" marL="71539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en" sz="2933" b="true" i="false" u="none" strike="noStrike">
                <a:solidFill>
                  <a:srgbClr val="FD9F28"/>
                </a:solidFill>
                <a:latin typeface="Heebo ExtraLight"/>
              </a:rPr>
              <a:t>Scale variability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: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절대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값이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시점별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·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시기별로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크게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변해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동일한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패턴이라도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값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차이가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매우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큼</a:t>
            </a:r>
          </a:p>
          <a:p>
            <a:pPr algn="l" lvl="2" indent="-342900" marL="71539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en" sz="2933" b="true" i="false" u="none" strike="noStrike">
                <a:solidFill>
                  <a:srgbClr val="FD9F28"/>
                </a:solidFill>
                <a:latin typeface="Heebo ExtraLight"/>
              </a:rPr>
              <a:t>Pattern ambiguity: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상승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·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하락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·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유지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등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단순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패턴은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곳곳에서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반복되지만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구조적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특징은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뚜렷하지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않을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있음</a:t>
            </a:r>
          </a:p>
          <a:p>
            <a:pPr algn="l" lvl="2" indent="-342900" marL="71539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en" sz="2933" b="false" i="false" u="none" strike="noStrike">
                <a:solidFill>
                  <a:srgbClr val="FD9F28"/>
                </a:solidFill>
                <a:latin typeface="Heebo ExtraLight"/>
              </a:rPr>
              <a:t>Non-stationarity:</a:t>
            </a:r>
            <a:r>
              <a:rPr lang="en" sz="2933" b="false" i="false" u="none" strike="noStrike">
                <a:solidFill>
                  <a:srgbClr val="456E2A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시계열의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분포가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시간에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따라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이동하며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,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과거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패턴이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미래에서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동일하게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나타나지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않을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있음</a:t>
            </a:r>
          </a:p>
          <a:p>
            <a:pPr algn="l" lvl="2" indent="-342900" marL="71539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en" sz="2933" b="false" i="false" u="none" strike="noStrike">
                <a:solidFill>
                  <a:srgbClr val="FD9F28"/>
                </a:solidFill>
                <a:latin typeface="Heebo ExtraLight"/>
              </a:rPr>
              <a:t>Forecasting difficulty: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패턴을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명확히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파악하지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못하면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예측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성능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역시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크게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저하됨</a:t>
            </a:r>
          </a:p>
          <a:p>
            <a:pPr algn="l" lvl="0">
              <a:lnSpc>
                <a:spcPct val="1244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>=</a:t>
            </a:r>
            <a:r>
              <a:rPr lang="en-US" sz="2933" b="false" i="true" u="none" strike="noStrike">
                <a:solidFill>
                  <a:srgbClr val="000000"/>
                </a:solidFill>
                <a:latin typeface="Heebo ExtraLight"/>
              </a:rPr>
              <a:t>&gt; </a:t>
            </a:r>
            <a:r>
              <a:rPr lang="ko-KR" sz="2933" b="false" i="true" u="none" strike="noStrike">
                <a:solidFill>
                  <a:srgbClr val="000000"/>
                </a:solidFill>
                <a:ea typeface="Heebo ExtraLight"/>
              </a:rPr>
              <a:t>이러한</a:t>
            </a:r>
            <a:r>
              <a:rPr lang="en-US" sz="2933" b="false" i="tru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true" u="none" strike="noStrike">
                <a:solidFill>
                  <a:srgbClr val="000000"/>
                </a:solidFill>
                <a:ea typeface="Heebo ExtraLight"/>
              </a:rPr>
              <a:t>이유로</a:t>
            </a:r>
            <a:r>
              <a:rPr lang="en-US" sz="2933" b="false" i="tru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true" u="none" strike="noStrike">
                <a:solidFill>
                  <a:srgbClr val="000000"/>
                </a:solidFill>
                <a:ea typeface="Heebo ExtraLight"/>
              </a:rPr>
              <a:t>전통적인</a:t>
            </a:r>
            <a:r>
              <a:rPr lang="en-US" sz="2933" b="false" i="true" u="none" strike="noStrike">
                <a:solidFill>
                  <a:srgbClr val="000000"/>
                </a:solidFill>
                <a:latin typeface="Heebo ExtraLight"/>
              </a:rPr>
              <a:t> forecasting </a:t>
            </a:r>
            <a:r>
              <a:rPr lang="ko-KR" sz="2933" b="false" i="true" u="none" strike="noStrike">
                <a:solidFill>
                  <a:srgbClr val="000000"/>
                </a:solidFill>
                <a:ea typeface="Heebo ExtraLight"/>
              </a:rPr>
              <a:t>모델</a:t>
            </a:r>
            <a:r>
              <a:rPr lang="en-US" sz="2933" b="false" i="true" u="none" strike="noStrike">
                <a:solidFill>
                  <a:srgbClr val="000000"/>
                </a:solidFill>
                <a:latin typeface="Heebo ExtraLight"/>
              </a:rPr>
              <a:t>(ARIMA, Transformer </a:t>
            </a:r>
            <a:r>
              <a:rPr lang="ko-KR" sz="2933" b="false" i="true" u="none" strike="noStrike">
                <a:solidFill>
                  <a:srgbClr val="000000"/>
                </a:solidFill>
                <a:ea typeface="Heebo ExtraLight"/>
              </a:rPr>
              <a:t>기반</a:t>
            </a:r>
            <a:r>
              <a:rPr lang="en-US" sz="2933" b="false" i="true" u="none" strike="noStrike">
                <a:solidFill>
                  <a:srgbClr val="000000"/>
                </a:solidFill>
                <a:latin typeface="Heebo ExtraLight"/>
              </a:rPr>
              <a:t> LSTM/Informer </a:t>
            </a:r>
            <a:r>
              <a:rPr lang="ko-KR" sz="2933" b="false" i="true" u="none" strike="noStrike">
                <a:solidFill>
                  <a:srgbClr val="000000"/>
                </a:solidFill>
                <a:ea typeface="Heebo ExtraLight"/>
              </a:rPr>
              <a:t>등</a:t>
            </a:r>
            <a:r>
              <a:rPr lang="en-US" sz="2933" b="false" i="true" u="none" strike="noStrike">
                <a:solidFill>
                  <a:srgbClr val="000000"/>
                </a:solidFill>
                <a:latin typeface="Heebo ExtraLight"/>
              </a:rPr>
              <a:t>)</a:t>
            </a:r>
            <a:r>
              <a:rPr lang="ko-KR" sz="2933" b="false" i="true" u="none" strike="noStrike">
                <a:solidFill>
                  <a:srgbClr val="000000"/>
                </a:solidFill>
                <a:ea typeface="Heebo ExtraLight"/>
              </a:rPr>
              <a:t>은</a:t>
            </a:r>
            <a:r>
              <a:rPr lang="en-US" sz="2933" b="false" i="true" u="none" strike="noStrike">
                <a:solidFill>
                  <a:srgbClr val="000000"/>
                </a:solidFill>
                <a:latin typeface="Heebo ExtraLight"/>
              </a:rPr>
              <a:t> </a:t>
            </a:r>
            <a:r>
              <a:rPr lang="ko-KR" sz="2933" b="false" i="tru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2933" b="false" i="tru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true" u="none" strike="noStrike">
                <a:solidFill>
                  <a:srgbClr val="000000"/>
                </a:solidFill>
                <a:ea typeface="Heebo ExtraLight"/>
              </a:rPr>
              <a:t>구조의</a:t>
            </a:r>
            <a:r>
              <a:rPr lang="en-US" sz="2933" b="false" i="true" u="none" strike="noStrike">
                <a:solidFill>
                  <a:srgbClr val="000000"/>
                </a:solidFill>
                <a:latin typeface="Heebo ExtraLight"/>
              </a:rPr>
              <a:t> true representation</a:t>
            </a:r>
            <a:r>
              <a:rPr lang="ko-KR" sz="2933" b="false" i="true" u="none" strike="noStrike">
                <a:solidFill>
                  <a:srgbClr val="000000"/>
                </a:solidFill>
                <a:ea typeface="Heebo ExtraLight"/>
              </a:rPr>
              <a:t>을</a:t>
            </a:r>
            <a:r>
              <a:rPr lang="en-US" sz="2933" b="false" i="tru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true" u="none" strike="noStrike">
                <a:solidFill>
                  <a:srgbClr val="000000"/>
                </a:solidFill>
                <a:ea typeface="Heebo ExtraLight"/>
              </a:rPr>
              <a:t>제대로</a:t>
            </a:r>
            <a:r>
              <a:rPr lang="en-US" sz="2933" b="false" i="tru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true" u="none" strike="noStrike">
                <a:solidFill>
                  <a:srgbClr val="000000"/>
                </a:solidFill>
                <a:ea typeface="Heebo ExtraLight"/>
              </a:rPr>
              <a:t>포착하지</a:t>
            </a:r>
            <a:r>
              <a:rPr lang="en-US" sz="2933" b="false" i="tru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true" u="none" strike="noStrike">
                <a:solidFill>
                  <a:srgbClr val="000000"/>
                </a:solidFill>
                <a:ea typeface="Heebo ExtraLight"/>
              </a:rPr>
              <a:t>못하는</a:t>
            </a:r>
            <a:r>
              <a:rPr lang="en-US" sz="2933" b="false" i="tru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true" u="none" strike="noStrike">
                <a:solidFill>
                  <a:srgbClr val="000000"/>
                </a:solidFill>
                <a:ea typeface="Heebo ExtraLight"/>
              </a:rPr>
              <a:t>한계가</a:t>
            </a:r>
            <a:r>
              <a:rPr lang="en-US" sz="2933" b="false" i="tru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true" u="none" strike="noStrike">
                <a:solidFill>
                  <a:srgbClr val="000000"/>
                </a:solidFill>
                <a:ea typeface="Heebo ExtraLight"/>
              </a:rPr>
              <a:t>있다</a:t>
            </a:r>
            <a:r>
              <a:rPr lang="en-US" sz="2933" b="false" i="tru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65500" y="5753100"/>
            <a:ext cx="7937500" cy="5956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86100" y="4622800"/>
            <a:ext cx="4000500" cy="8001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FD9F28"/>
                </a:solidFill>
                <a:latin typeface="Heebo ExtraBold"/>
              </a:rPr>
              <a:t>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p.02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9570700" cy="16637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02. Project Overview - </a:t>
            </a:r>
            <a:r>
              <a:rPr lang="en" sz="6666" b="false" i="false" u="none" strike="noStrike" spc="-333">
                <a:solidFill>
                  <a:srgbClr val="000000"/>
                </a:solidFill>
                <a:latin typeface="Lexend Bold"/>
              </a:rPr>
              <a:t>Objective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654300" y="5778500"/>
            <a:ext cx="19075400" cy="2857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67000" y="10198100"/>
            <a:ext cx="19062700" cy="2857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772900" y="9004300"/>
            <a:ext cx="825500" cy="8255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568700" y="6769100"/>
            <a:ext cx="2349500" cy="736600"/>
          </a:xfrm>
          <a:prstGeom prst="rect">
            <a:avLst/>
          </a:prstGeom>
        </p:spPr>
        <p:txBody>
          <a:bodyPr anchor="ctr" rtlCol="false"/>
          <a:lstStyle/>
          <a:p>
            <a:pPr algn="ctr" lvl="0">
              <a:lnSpc>
                <a:spcPct val="116199"/>
              </a:lnSpc>
            </a:pPr>
            <a:r>
              <a:rPr lang="en" sz="4154" b="true" i="false" u="none" strike="noStrike">
                <a:solidFill>
                  <a:srgbClr val="000000"/>
                </a:solidFill>
                <a:ea typeface="Heebo Regular"/>
              </a:rPr>
              <a:t>한계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35800" y="6273800"/>
            <a:ext cx="13944600" cy="1892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기존의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Transformer, RNN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기반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시계열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모델들은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다음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en" sz="2655" b="true" i="false" u="none" strike="noStrike">
                <a:solidFill>
                  <a:srgbClr val="000000"/>
                </a:solidFill>
                <a:ea typeface="Heebo Regular"/>
              </a:rPr>
              <a:t>한계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를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가진다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: </a:t>
            </a:r>
          </a:p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long-term pattern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의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구조적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변화에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취약</a:t>
            </a:r>
          </a:p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마지막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구간의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dynamics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를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explicit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하게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모델링하지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못함</a:t>
            </a:r>
          </a:p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예측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과정이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deterministic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하며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alternative future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를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생성하기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어려움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56000" y="11214100"/>
            <a:ext cx="2362200" cy="736600"/>
          </a:xfrm>
          <a:prstGeom prst="rect">
            <a:avLst/>
          </a:prstGeom>
        </p:spPr>
        <p:txBody>
          <a:bodyPr anchor="ctr" rtlCol="false"/>
          <a:lstStyle/>
          <a:p>
            <a:pPr algn="ctr" lvl="0">
              <a:lnSpc>
                <a:spcPct val="116199"/>
              </a:lnSpc>
            </a:pPr>
            <a:r>
              <a:rPr lang="en" sz="4154" b="true" i="false" u="none" strike="noStrike">
                <a:solidFill>
                  <a:srgbClr val="000000"/>
                </a:solidFill>
                <a:ea typeface="Heebo Regular"/>
              </a:rPr>
              <a:t>해결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35800" y="10922000"/>
            <a:ext cx="14147800" cy="14097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이에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따라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본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연구는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사전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학습된</a:t>
            </a:r>
            <a:r>
              <a:rPr lang="en" sz="2655" b="true" i="false" u="none" strike="noStrike">
                <a:solidFill>
                  <a:srgbClr val="000000"/>
                </a:solidFill>
                <a:latin typeface="Heebo Regular"/>
              </a:rPr>
              <a:t> Latent Autoencoder(variational)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를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사용해</a:t>
            </a:r>
            <a:b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</a:b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원본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시계열을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en" sz="2655" b="true" i="false" u="none" strike="noStrike">
                <a:solidFill>
                  <a:srgbClr val="000000"/>
                </a:solidFill>
                <a:latin typeface="Heebo Regular"/>
              </a:rPr>
              <a:t>latent sequence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로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압축하고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, </a:t>
            </a:r>
            <a:r>
              <a:rPr lang="ko-KR" sz="2655" b="true" i="false" u="none" strike="noStrike">
                <a:solidFill>
                  <a:srgbClr val="000000"/>
                </a:solidFill>
                <a:ea typeface="Heebo Regular"/>
              </a:rPr>
              <a:t>마지막</a:t>
            </a:r>
            <a:r>
              <a:rPr lang="en-US" sz="2655" b="tru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true" i="false" u="none" strike="noStrike">
                <a:solidFill>
                  <a:srgbClr val="000000"/>
                </a:solidFill>
                <a:ea typeface="Heebo Regular"/>
              </a:rPr>
              <a:t>구간의</a:t>
            </a:r>
            <a:r>
              <a:rPr lang="en-US" sz="2655" b="true" i="false" u="none" strike="noStrike">
                <a:solidFill>
                  <a:srgbClr val="000000"/>
                </a:solidFill>
                <a:latin typeface="Heebo Regular"/>
              </a:rPr>
              <a:t> latent dynamics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를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RL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로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재현한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뒤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, </a:t>
            </a:r>
            <a:r>
              <a:rPr lang="ko-KR" sz="2655" b="true" i="false" u="none" strike="noStrike">
                <a:solidFill>
                  <a:srgbClr val="000000"/>
                </a:solidFill>
                <a:ea typeface="Heebo Regular"/>
              </a:rPr>
              <a:t>배운</a:t>
            </a:r>
            <a:r>
              <a:rPr lang="en-US" sz="2655" b="true" i="false" u="none" strike="noStrike">
                <a:solidFill>
                  <a:srgbClr val="000000"/>
                </a:solidFill>
                <a:latin typeface="Heebo Regular"/>
              </a:rPr>
              <a:t> dynamics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를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이용해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true" i="false" u="none" strike="noStrike">
                <a:solidFill>
                  <a:srgbClr val="000000"/>
                </a:solidFill>
                <a:ea typeface="Heebo Regular"/>
              </a:rPr>
              <a:t>미래</a:t>
            </a:r>
            <a:r>
              <a:rPr lang="en-US" sz="2655" b="true" i="false" u="none" strike="noStrike">
                <a:solidFill>
                  <a:srgbClr val="000000"/>
                </a:solidFill>
                <a:latin typeface="Heebo Regular"/>
              </a:rPr>
              <a:t> latent trajectory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를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생성하는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방식을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655" b="false" i="false" u="none" strike="noStrike">
                <a:solidFill>
                  <a:srgbClr val="000000"/>
                </a:solidFill>
                <a:ea typeface="Heebo Regular"/>
              </a:rPr>
              <a:t>제안한다</a:t>
            </a:r>
            <a:r>
              <a:rPr lang="en-US" sz="2655" b="false" i="false" u="none" strike="noStrike">
                <a:solidFill>
                  <a:srgbClr val="000000"/>
                </a:solidFill>
                <a:latin typeface="Heebo Regular"/>
              </a:rPr>
              <a:t>.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5727700" y="7200900"/>
            <a:ext cx="18796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5753100" y="11620500"/>
            <a:ext cx="1879600" cy="254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2590800" y="4152900"/>
            <a:ext cx="19202400" cy="1485900"/>
          </a:xfrm>
          <a:prstGeom prst="rect">
            <a:avLst/>
          </a:prstGeom>
        </p:spPr>
        <p:txBody>
          <a:bodyPr anchor="t" rtlCol="false" lIns="0" tIns="47413" rIns="0" bIns="0"/>
          <a:lstStyle/>
          <a:p>
            <a:pPr algn="ctr" lvl="0">
              <a:lnSpc>
                <a:spcPct val="99600"/>
              </a:lnSpc>
            </a:pP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시계열의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마지막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패턴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(latest trend)</a:t>
            </a: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을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 latent space</a:t>
            </a: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에서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강화학습으로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모사하고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, </a:t>
            </a:r>
          </a:p>
          <a:p>
            <a:pPr algn="ctr" lvl="0">
              <a:lnSpc>
                <a:spcPct val="99600"/>
              </a:lnSpc>
            </a:pP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이를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기반으로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미래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구간을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예측하는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새로운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 Forecasting Framework </a:t>
            </a: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개발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p.03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22402800" cy="16637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02. Project Overview - </a:t>
            </a:r>
            <a:r>
              <a:rPr lang="en" sz="6666" b="false" i="false" u="none" strike="noStrike" spc="-333">
                <a:solidFill>
                  <a:srgbClr val="000000"/>
                </a:solidFill>
                <a:latin typeface="Lexend Bold"/>
              </a:rPr>
              <a:t>High-Level Framework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82800" y="5384800"/>
            <a:ext cx="6172200" cy="9652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FFFFFF"/>
                </a:solidFill>
                <a:highlight>
                  <a:srgbClr val="FD9F28"/>
                </a:highlight>
                <a:latin typeface="Lexend SemiBold"/>
              </a:rPr>
              <a:t>Phase 1 – Last Window Latent Dynamics Learning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82800" y="6858000"/>
            <a:ext cx="6159500" cy="2730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5329"/>
              </a:lnSpc>
            </a:pP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데이터의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가장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마지막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window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구간을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사용해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,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해당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시간대의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latent trajectory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를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정확하게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재현하도록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RL agent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를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학습한다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.
-&gt;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이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단계는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forecasting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에서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가장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중요한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“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최신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패턴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”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을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정확히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이해하기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위함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.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549900" y="8420100"/>
            <a:ext cx="5918200" cy="50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105900" y="6642100"/>
            <a:ext cx="5575300" cy="64135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532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학습된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agent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가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en-US" sz="2400" b="false" i="true" u="none" strike="noStrike">
                <a:solidFill>
                  <a:srgbClr val="595959"/>
                </a:solidFill>
                <a:latin typeface="Lexend SemiBold"/>
              </a:rPr>
              <a:t>“</a:t>
            </a:r>
            <a:r>
              <a:rPr lang="ko-KR" sz="2400" b="false" i="true" u="none" strike="noStrike">
                <a:solidFill>
                  <a:srgbClr val="595959"/>
                </a:solidFill>
                <a:ea typeface="Lexend SemiBold"/>
              </a:rPr>
              <a:t>이</a:t>
            </a:r>
            <a:r>
              <a:rPr lang="en-US" sz="2400" b="false" i="true" u="none" strike="noStrike">
                <a:solidFill>
                  <a:srgbClr val="595959"/>
                </a:solidFill>
                <a:latin typeface="Lexend SemiBold"/>
              </a:rPr>
              <a:t> latent dynamics</a:t>
            </a:r>
            <a:r>
              <a:rPr lang="ko-KR" sz="2400" b="false" i="true" u="none" strike="noStrike">
                <a:solidFill>
                  <a:srgbClr val="595959"/>
                </a:solidFill>
                <a:ea typeface="Lexend SemiBold"/>
              </a:rPr>
              <a:t>와</a:t>
            </a:r>
            <a:r>
              <a:rPr lang="en-US" sz="2400" b="false" i="tru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true" u="none" strike="noStrike">
                <a:solidFill>
                  <a:srgbClr val="595959"/>
                </a:solidFill>
                <a:ea typeface="Lexend SemiBold"/>
              </a:rPr>
              <a:t>비슷한</a:t>
            </a:r>
            <a:r>
              <a:rPr lang="en-US" sz="2400" b="false" i="tru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true" u="none" strike="noStrike">
                <a:solidFill>
                  <a:srgbClr val="595959"/>
                </a:solidFill>
                <a:ea typeface="Lexend SemiBold"/>
              </a:rPr>
              <a:t>패턴이</a:t>
            </a:r>
            <a:r>
              <a:rPr lang="en-US" sz="2400" b="false" i="tru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true" u="none" strike="noStrike">
                <a:solidFill>
                  <a:srgbClr val="595959"/>
                </a:solidFill>
                <a:ea typeface="Lexend SemiBold"/>
              </a:rPr>
              <a:t>과거</a:t>
            </a:r>
            <a:r>
              <a:rPr lang="en-US" sz="2400" b="false" i="tru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true" u="none" strike="noStrike">
                <a:solidFill>
                  <a:srgbClr val="595959"/>
                </a:solidFill>
                <a:ea typeface="Lexend SemiBold"/>
              </a:rPr>
              <a:t>데이터에</a:t>
            </a:r>
            <a:r>
              <a:rPr lang="en-US" sz="2400" b="false" i="tru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true" u="none" strike="noStrike">
                <a:solidFill>
                  <a:srgbClr val="595959"/>
                </a:solidFill>
                <a:ea typeface="Lexend SemiBold"/>
              </a:rPr>
              <a:t>존재하는가</a:t>
            </a:r>
            <a:r>
              <a:rPr lang="en-US" sz="2400" b="false" i="true" u="none" strike="noStrike">
                <a:solidFill>
                  <a:srgbClr val="595959"/>
                </a:solidFill>
                <a:latin typeface="Lexend SemiBold"/>
              </a:rPr>
              <a:t>?”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를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전체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데이터에서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탐색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.</a:t>
            </a:r>
          </a:p>
          <a:p>
            <a:pPr algn="l" lvl="1" indent="-342900" marL="342900">
              <a:lnSpc>
                <a:spcPct val="12532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이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단계는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pattern discovery / similarity search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로서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:</a:t>
            </a:r>
          </a:p>
          <a:p>
            <a:pPr algn="l" lvl="2" indent="-342900" marL="647700">
              <a:lnSpc>
                <a:spcPct val="125329"/>
              </a:lnSpc>
              <a:buClr>
                <a:srgbClr val="000000"/>
              </a:buClr>
              <a:buFont typeface="Arial"/>
              <a:buChar char="○"/>
            </a:pP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agent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가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배운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dynamics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를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latent space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에서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적용해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보고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,</a:t>
            </a:r>
          </a:p>
          <a:p>
            <a:pPr algn="l" lvl="2" indent="-342900" marL="647700">
              <a:lnSpc>
                <a:spcPct val="125329"/>
              </a:lnSpc>
              <a:buClr>
                <a:srgbClr val="000000"/>
              </a:buClr>
              <a:buFont typeface="Arial"/>
              <a:buChar char="○"/>
            </a:pP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실제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latent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변화와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얼마나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비슷한지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비교해</a:t>
            </a:r>
          </a:p>
          <a:p>
            <a:pPr algn="l" lvl="2" indent="-342900" marL="647700">
              <a:lnSpc>
                <a:spcPct val="125329"/>
              </a:lnSpc>
              <a:buClr>
                <a:srgbClr val="000000"/>
              </a:buClr>
              <a:buFont typeface="Arial"/>
              <a:buChar char="○"/>
            </a:pP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반복되는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구조적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패턴을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자동으로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찾는다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.</a:t>
            </a:r>
          </a:p>
          <a:p>
            <a:pPr algn="l" lvl="0">
              <a:lnSpc>
                <a:spcPct val="125329"/>
              </a:lnSpc>
            </a:pP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
-&gt;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즉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, Forecasting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에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사용할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수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있는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과거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reference pattern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을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확보하는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단계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.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598400" y="8420100"/>
            <a:ext cx="5918200" cy="508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6281400" y="6527800"/>
            <a:ext cx="5562600" cy="50292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532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학습된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agent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는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:</a:t>
            </a:r>
          </a:p>
          <a:p>
            <a:pPr algn="l" lvl="2" indent="-342900" marL="647700">
              <a:lnSpc>
                <a:spcPct val="125329"/>
              </a:lnSpc>
              <a:buClr>
                <a:srgbClr val="000000"/>
              </a:buClr>
              <a:buFont typeface="Arial"/>
              <a:buChar char="○"/>
            </a:pP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마지막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window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의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latent vector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를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받아</a:t>
            </a:r>
          </a:p>
          <a:p>
            <a:pPr algn="l" lvl="2" indent="-342900" marL="647700">
              <a:lnSpc>
                <a:spcPct val="125329"/>
              </a:lnSpc>
              <a:buClr>
                <a:srgbClr val="000000"/>
              </a:buClr>
              <a:buFont typeface="Arial"/>
              <a:buChar char="○"/>
            </a:pP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action(Δz)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를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반복하여</a:t>
            </a:r>
          </a:p>
          <a:p>
            <a:pPr algn="l" lvl="2" indent="-342900" marL="647700">
              <a:lnSpc>
                <a:spcPct val="125329"/>
              </a:lnSpc>
              <a:buClr>
                <a:srgbClr val="000000"/>
              </a:buClr>
              <a:buFont typeface="Arial"/>
              <a:buChar char="○"/>
            </a:pP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미래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latent trajectory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를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생성한다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.
</a:t>
            </a:r>
            <a:r>
              <a:rPr lang="en" sz="2400" b="false" i="false" u="none" strike="noStrike">
                <a:solidFill>
                  <a:srgbClr val="595959"/>
                </a:solidFill>
                <a:latin typeface="Lexend SemiBold"/>
              </a:rPr>
              <a:t/>
            </a:r>
          </a:p>
          <a:p>
            <a:pPr algn="l" lvl="1" indent="-342900" marL="342900">
              <a:lnSpc>
                <a:spcPct val="12532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생성된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latent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는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autoencoder decoder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를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통해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원래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시계열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window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로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변환되며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,
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이를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반복적으로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이어붙여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forecasting curve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를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생성한다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90800" y="4152900"/>
            <a:ext cx="19202400" cy="939800"/>
          </a:xfrm>
          <a:prstGeom prst="rect">
            <a:avLst/>
          </a:prstGeom>
        </p:spPr>
        <p:txBody>
          <a:bodyPr anchor="t" rtlCol="false" lIns="0" tIns="47413" rIns="0" bIns="0"/>
          <a:lstStyle/>
          <a:p>
            <a:pPr algn="ctr" lvl="0">
              <a:lnSpc>
                <a:spcPct val="99600"/>
              </a:lnSpc>
            </a:pP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본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프로젝트는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다음과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같은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 3</a:t>
            </a: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단계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 Pipeline</a:t>
            </a: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으로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구성된다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04300" y="5384800"/>
            <a:ext cx="6172200" cy="11811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FFFFFF"/>
                </a:solidFill>
                <a:highlight>
                  <a:srgbClr val="FD9F28"/>
                </a:highlight>
                <a:latin typeface="Lexend SemiBold"/>
              </a:rPr>
              <a:t>Phase 2 – Pattern Matching / Bootstrapping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989300" y="5384800"/>
            <a:ext cx="7823200" cy="520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FFFFFF"/>
                </a:solidFill>
                <a:highlight>
                  <a:srgbClr val="FD9F28"/>
                </a:highlight>
                <a:latin typeface="Lexend SemiBold"/>
              </a:rPr>
              <a:t>Phase 3 – Future Forecasting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p.04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320000" y="965200"/>
            <a:ext cx="1612900" cy="4318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p.05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27400" y="4889500"/>
            <a:ext cx="17373600" cy="19685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ctr" lvl="0">
              <a:lnSpc>
                <a:spcPct val="1078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ea typeface="Heebo ExtraLight"/>
              </a:rPr>
              <a:t>✔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결론적으로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agent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두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가지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역할을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수행한다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
1) Pattern Capturer (Representation learner) : latent space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에서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패턴의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구조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·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방향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·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변동성을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직접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학습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
2) Data Generator (Forecaster) : latent dynamics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통해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미래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window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생성</a:t>
            </a:r>
          </a:p>
          <a:p>
            <a:pPr algn="ctr" lvl="0">
              <a:lnSpc>
                <a:spcPct val="1078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3800" y="2082800"/>
            <a:ext cx="19443700" cy="16637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02. Project Overview - </a:t>
            </a:r>
            <a:r>
              <a:rPr lang="en" sz="6666" b="false" i="false" u="none" strike="noStrike" spc="-333">
                <a:solidFill>
                  <a:srgbClr val="000000"/>
                </a:solidFill>
                <a:latin typeface="Lexend Bold"/>
              </a:rPr>
              <a:t>Implications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05000" y="9944100"/>
            <a:ext cx="203962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816100" y="8229600"/>
            <a:ext cx="3975100" cy="1143000"/>
          </a:xfrm>
          <a:prstGeom prst="rect">
            <a:avLst/>
          </a:prstGeom>
        </p:spPr>
        <p:txBody>
          <a:bodyPr anchor="t" rtlCol="false" lIns="0" tIns="21167" rIns="0" bIns="0"/>
          <a:lstStyle/>
          <a:p>
            <a:pPr algn="ctr" lvl="0">
              <a:lnSpc>
                <a:spcPct val="107899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Heebo ExtraBold"/>
              </a:rPr>
              <a:t>Encoder </a:t>
            </a:r>
            <a:r>
              <a:rPr lang="ko-KR" sz="3333" b="true" i="false" u="none" strike="noStrike">
                <a:solidFill>
                  <a:srgbClr val="000000"/>
                </a:solidFill>
                <a:ea typeface="Heebo ExtraBold"/>
              </a:rPr>
              <a:t>성능에</a:t>
            </a:r>
            <a:r>
              <a:rPr lang="en-US" sz="3333" b="tru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333" b="true" i="false" u="none" strike="noStrike">
                <a:solidFill>
                  <a:srgbClr val="000000"/>
                </a:solidFill>
                <a:ea typeface="Heebo ExtraBold"/>
              </a:rPr>
              <a:t>과도하게</a:t>
            </a:r>
            <a:r>
              <a:rPr lang="en-US" sz="3333" b="tru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333" b="true" i="false" u="none" strike="noStrike">
                <a:solidFill>
                  <a:srgbClr val="000000"/>
                </a:solidFill>
                <a:ea typeface="Heebo ExtraBold"/>
              </a:rPr>
              <a:t>의존하지</a:t>
            </a:r>
            <a:r>
              <a:rPr lang="en-US" sz="3333" b="tru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333" b="true" i="false" u="none" strike="noStrike">
                <a:solidFill>
                  <a:srgbClr val="000000"/>
                </a:solidFill>
                <a:ea typeface="Heebo ExtraBold"/>
              </a:rPr>
              <a:t>않는다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7000" y="10350500"/>
            <a:ext cx="4813300" cy="1816100"/>
          </a:xfrm>
          <a:prstGeom prst="rect">
            <a:avLst/>
          </a:prstGeom>
        </p:spPr>
        <p:txBody>
          <a:bodyPr anchor="t" rtlCol="false" lIns="0" tIns="21167" rIns="0" bIns="0"/>
          <a:lstStyle/>
          <a:p>
            <a:pPr algn="ctr" lvl="0">
              <a:lnSpc>
                <a:spcPct val="1078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Heebo ExtraBold"/>
              </a:rPr>
              <a:t>Pattern matching + Forecasting</a:t>
            </a:r>
            <a:r>
              <a:rPr lang="ko-KR" sz="3333" b="false" i="false" u="none" strike="noStrike">
                <a:solidFill>
                  <a:srgbClr val="000000"/>
                </a:solidFill>
                <a:ea typeface="Heebo ExtraBold"/>
              </a:rPr>
              <a:t>을</a:t>
            </a:r>
            <a:r>
              <a:rPr lang="en-US" sz="3333" b="false" i="false" u="none" strike="noStrike">
                <a:solidFill>
                  <a:srgbClr val="000000"/>
                </a:solidFill>
                <a:latin typeface="Heebo ExtraBold"/>
              </a:rPr>
              <a:t> </a:t>
            </a:r>
          </a:p>
          <a:p>
            <a:pPr algn="ctr" lvl="0">
              <a:lnSpc>
                <a:spcPct val="107899"/>
              </a:lnSpc>
            </a:pPr>
            <a:r>
              <a:rPr lang="ko-KR" sz="3333" b="false" i="false" u="none" strike="noStrike">
                <a:solidFill>
                  <a:srgbClr val="000000"/>
                </a:solidFill>
                <a:ea typeface="Heebo ExtraBold"/>
              </a:rPr>
              <a:t>단일</a:t>
            </a:r>
            <a:r>
              <a:rPr lang="en-US" sz="3333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333" b="false" i="false" u="none" strike="noStrike">
                <a:solidFill>
                  <a:srgbClr val="000000"/>
                </a:solidFill>
                <a:ea typeface="Heebo ExtraBold"/>
              </a:rPr>
              <a:t>구조에서</a:t>
            </a:r>
            <a:r>
              <a:rPr lang="en-US" sz="3333" b="false" i="false" u="none" strike="noStrike">
                <a:solidFill>
                  <a:srgbClr val="000000"/>
                </a:solidFill>
                <a:latin typeface="Heebo ExtraBold"/>
              </a:rPr>
              <a:t> </a:t>
            </a:r>
            <a:r>
              <a:rPr lang="ko-KR" sz="3333" b="false" i="false" u="none" strike="noStrike">
                <a:solidFill>
                  <a:srgbClr val="000000"/>
                </a:solidFill>
                <a:ea typeface="Heebo ExtraBold"/>
              </a:rPr>
              <a:t>통합</a:t>
            </a:r>
            <a:r>
              <a:rPr lang="en-US" sz="3333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333" b="false" i="false" u="none" strike="noStrike">
                <a:solidFill>
                  <a:srgbClr val="000000"/>
                </a:solidFill>
                <a:ea typeface="Heebo ExtraBold"/>
              </a:rPr>
              <a:t>수행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02400" y="10350500"/>
            <a:ext cx="16522700" cy="2349500"/>
          </a:xfrm>
          <a:prstGeom prst="rect">
            <a:avLst/>
          </a:prstGeom>
        </p:spPr>
        <p:txBody>
          <a:bodyPr anchor="t" rtlCol="false" lIns="0" tIns="17780" rIns="0" bIns="0"/>
          <a:lstStyle/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기존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방식은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: (1)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패턴을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먼저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탐지하고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(2)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예측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모델에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정보를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전달하는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방식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이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“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두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단계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접근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”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이었다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본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연구는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다음을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동시에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달성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:(1) pattern imitation (2) latent trajectory generation (3) raw forecasting window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생성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
→ End-to-end unified architecture
→ representation + generation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을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한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번에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해결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02400" y="7620000"/>
            <a:ext cx="16027400" cy="1879600"/>
          </a:xfrm>
          <a:prstGeom prst="rect">
            <a:avLst/>
          </a:prstGeom>
        </p:spPr>
        <p:txBody>
          <a:bodyPr anchor="t" rtlCol="false" lIns="0" tIns="17780" rIns="0" bIns="0"/>
          <a:lstStyle/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전통적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representation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학습은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“encoder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잘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만들어야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latent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잘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나온다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”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강한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의존성이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있다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하지만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본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연구의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핵심은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encoder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아니라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: RL agent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latent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변화량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(Δz)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의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구조를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직접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학습한다는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점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즉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, encoder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약해도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, latent space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의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변화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규칙만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유지되면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, agent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pattern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을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imitation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할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수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799" b="false" i="false" u="none" strike="noStrike">
                <a:solidFill>
                  <a:srgbClr val="000000"/>
                </a:solidFill>
                <a:ea typeface="Heebo ExtraLight"/>
              </a:rPr>
              <a:t>있다</a:t>
            </a:r>
            <a:r>
              <a:rPr lang="en-US" sz="2799" b="false" i="false" u="none" strike="noStrike">
                <a:solidFill>
                  <a:srgbClr val="000000"/>
                </a:solidFill>
                <a:latin typeface="Heebo ExtraLight"/>
              </a:rPr>
              <a:t>.
→ Robust representation learning paradigm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20180300" cy="16637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02. Project Overview - </a:t>
            </a:r>
            <a:r>
              <a:rPr lang="en" sz="6666" b="false" i="false" u="none" strike="noStrike" spc="-333">
                <a:solidFill>
                  <a:srgbClr val="000000"/>
                </a:solidFill>
                <a:latin typeface="Lexend Bold"/>
              </a:rPr>
              <a:t>Limitation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05000" y="8699500"/>
            <a:ext cx="20396200" cy="50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16100" y="6985000"/>
            <a:ext cx="3975100" cy="1244600"/>
          </a:xfrm>
          <a:prstGeom prst="rect">
            <a:avLst/>
          </a:prstGeom>
        </p:spPr>
        <p:txBody>
          <a:bodyPr anchor="t" rtlCol="false" lIns="0" tIns="21167" rIns="0" bIns="0"/>
          <a:lstStyle/>
          <a:p>
            <a:pPr algn="ctr" lvl="0">
              <a:lnSpc>
                <a:spcPct val="107899"/>
              </a:lnSpc>
            </a:pPr>
            <a:r>
              <a:rPr lang="ko-KR" sz="3333" b="true" i="false" u="none" strike="noStrike">
                <a:solidFill>
                  <a:srgbClr val="000000"/>
                </a:solidFill>
                <a:ea typeface="Heebo ExtraBold"/>
              </a:rPr>
              <a:t>패턴이</a:t>
            </a:r>
            <a:r>
              <a:rPr lang="en-US" sz="3333" b="tru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333" b="true" i="false" u="none" strike="noStrike">
                <a:solidFill>
                  <a:srgbClr val="000000"/>
                </a:solidFill>
                <a:ea typeface="Heebo ExtraBold"/>
              </a:rPr>
              <a:t>바뀌면</a:t>
            </a:r>
            <a:r>
              <a:rPr lang="en-US" sz="3333" b="true" i="false" u="none" strike="noStrike">
                <a:solidFill>
                  <a:srgbClr val="000000"/>
                </a:solidFill>
                <a:latin typeface="Heebo ExtraBold"/>
              </a:rPr>
              <a:t> agent </a:t>
            </a:r>
            <a:r>
              <a:rPr lang="ko-KR" sz="3333" b="true" i="false" u="none" strike="noStrike">
                <a:solidFill>
                  <a:srgbClr val="000000"/>
                </a:solidFill>
                <a:ea typeface="Heebo ExtraBold"/>
              </a:rPr>
              <a:t>재학습</a:t>
            </a:r>
            <a:r>
              <a:rPr lang="en-US" sz="3333" b="tru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333" b="true" i="false" u="none" strike="noStrike">
                <a:solidFill>
                  <a:srgbClr val="000000"/>
                </a:solidFill>
                <a:ea typeface="Heebo ExtraBold"/>
              </a:rPr>
              <a:t>필요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7000" y="9220200"/>
            <a:ext cx="4813300" cy="1803400"/>
          </a:xfrm>
          <a:prstGeom prst="rect">
            <a:avLst/>
          </a:prstGeom>
        </p:spPr>
        <p:txBody>
          <a:bodyPr anchor="t" rtlCol="false" lIns="0" tIns="21167" rIns="0" bIns="0"/>
          <a:lstStyle/>
          <a:p>
            <a:pPr algn="ctr" lvl="0">
              <a:lnSpc>
                <a:spcPct val="1078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Heebo ExtraBold"/>
              </a:rPr>
              <a:t>Raw-level forecasting</a:t>
            </a:r>
            <a:r>
              <a:rPr lang="ko-KR" sz="3333" b="false" i="false" u="none" strike="noStrike">
                <a:solidFill>
                  <a:srgbClr val="000000"/>
                </a:solidFill>
                <a:ea typeface="Heebo ExtraBold"/>
              </a:rPr>
              <a:t>은</a:t>
            </a:r>
            <a:r>
              <a:rPr lang="en-US" sz="3333" b="false" i="false" u="none" strike="noStrike">
                <a:solidFill>
                  <a:srgbClr val="000000"/>
                </a:solidFill>
                <a:latin typeface="Heebo ExtraBold"/>
              </a:rPr>
              <a:t> Decoder</a:t>
            </a:r>
            <a:r>
              <a:rPr lang="ko-KR" sz="3333" b="false" i="false" u="none" strike="noStrike">
                <a:solidFill>
                  <a:srgbClr val="000000"/>
                </a:solidFill>
                <a:ea typeface="Heebo ExtraBold"/>
              </a:rPr>
              <a:t>의</a:t>
            </a:r>
            <a:r>
              <a:rPr lang="en-US" sz="3333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333" b="false" i="false" u="none" strike="noStrike">
                <a:solidFill>
                  <a:srgbClr val="000000"/>
                </a:solidFill>
                <a:ea typeface="Heebo ExtraBold"/>
              </a:rPr>
              <a:t>품질에</a:t>
            </a:r>
            <a:r>
              <a:rPr lang="en-US" sz="3333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333" b="false" i="false" u="none" strike="noStrike">
                <a:solidFill>
                  <a:srgbClr val="000000"/>
                </a:solidFill>
                <a:ea typeface="Heebo ExtraBold"/>
              </a:rPr>
              <a:t>크게</a:t>
            </a:r>
            <a:r>
              <a:rPr lang="en-US" sz="3333" b="false" i="false" u="none" strike="noStrike">
                <a:solidFill>
                  <a:srgbClr val="000000"/>
                </a:solidFill>
                <a:latin typeface="Heebo ExtraBold"/>
              </a:rPr>
              <a:t> </a:t>
            </a:r>
          </a:p>
          <a:p>
            <a:pPr algn="ctr" lvl="0">
              <a:lnSpc>
                <a:spcPct val="1078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ea typeface="Heebo ExtraBold"/>
              </a:rPr>
              <a:t>의존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02400" y="9512300"/>
            <a:ext cx="16522700" cy="6096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latent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에서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dynamics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맞아도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decoder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표현력이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낮으면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forecasting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품질은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제한된다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02400" y="7061200"/>
            <a:ext cx="16027400" cy="11049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Pattern-conditioned policy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이므로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meta-learning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적용하지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않으면</a:t>
            </a:r>
            <a:b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</a:b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각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패턴마다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policy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새로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학습해야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한다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p.06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486400" y="7493000"/>
            <a:ext cx="14300200" cy="5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505200" y="5880100"/>
            <a:ext cx="3263900" cy="3263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553700" y="5880100"/>
            <a:ext cx="3263900" cy="3263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602200" y="5880100"/>
            <a:ext cx="3263900" cy="32639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949700" y="7099300"/>
            <a:ext cx="2387600" cy="927100"/>
          </a:xfrm>
          <a:prstGeom prst="rect">
            <a:avLst/>
          </a:prstGeom>
        </p:spPr>
        <p:txBody>
          <a:bodyPr anchor="t" rtlCol="false" lIns="0" tIns="27940" rIns="0" bIns="0"/>
          <a:lstStyle/>
          <a:p>
            <a:pPr algn="ctr" lvl="0">
              <a:lnSpc>
                <a:spcPct val="107899"/>
              </a:lnSpc>
            </a:pPr>
            <a:r>
              <a:rPr lang="en" sz="4400" b="true" i="false" u="none" strike="noStrike">
                <a:solidFill>
                  <a:srgbClr val="000000"/>
                </a:solidFill>
                <a:latin typeface="Heebo ExtraBold"/>
              </a:rPr>
              <a:t>Q1.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98200" y="7099300"/>
            <a:ext cx="2387600" cy="927100"/>
          </a:xfrm>
          <a:prstGeom prst="rect">
            <a:avLst/>
          </a:prstGeom>
        </p:spPr>
        <p:txBody>
          <a:bodyPr anchor="t" rtlCol="false" lIns="0" tIns="27940" rIns="0" bIns="0"/>
          <a:lstStyle/>
          <a:p>
            <a:pPr algn="ctr" lvl="0">
              <a:lnSpc>
                <a:spcPct val="107899"/>
              </a:lnSpc>
            </a:pPr>
            <a:r>
              <a:rPr lang="en" sz="4400" b="false" i="false" u="none" strike="noStrike">
                <a:solidFill>
                  <a:srgbClr val="000000"/>
                </a:solidFill>
                <a:latin typeface="Heebo ExtraBold"/>
              </a:rPr>
              <a:t>Q2.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046700" y="7048500"/>
            <a:ext cx="2387600" cy="927100"/>
          </a:xfrm>
          <a:prstGeom prst="rect">
            <a:avLst/>
          </a:prstGeom>
        </p:spPr>
        <p:txBody>
          <a:bodyPr anchor="t" rtlCol="false" lIns="0" tIns="27940" rIns="0" bIns="0"/>
          <a:lstStyle/>
          <a:p>
            <a:pPr algn="ctr" lvl="0">
              <a:lnSpc>
                <a:spcPct val="107899"/>
              </a:lnSpc>
            </a:pPr>
            <a:r>
              <a:rPr lang="en" sz="4400" b="false" i="false" u="none" strike="noStrike">
                <a:solidFill>
                  <a:srgbClr val="FFFFFF"/>
                </a:solidFill>
                <a:latin typeface="Heebo ExtraBold"/>
              </a:rPr>
              <a:t>Q3.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98700" y="9575800"/>
            <a:ext cx="5676900" cy="30353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ctr" lvl="0">
              <a:lnSpc>
                <a:spcPct val="1078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Q1. Encoder/Decoder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구조가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결과에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영향을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주는가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?
latent representation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차이가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RL imitation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성능에도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영향을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줄지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측정한다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47200" y="9575800"/>
            <a:ext cx="5676900" cy="25527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ctr" lvl="0">
              <a:lnSpc>
                <a:spcPct val="1078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Q2. Window size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변화에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모델은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얼마나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민감한가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?
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특정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window size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pattern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구조에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최적일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있다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08400" y="9575800"/>
            <a:ext cx="5676900" cy="35179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ctr" lvl="0">
              <a:lnSpc>
                <a:spcPct val="1078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Q3. Raw-level similarity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얼마나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 </a:t>
            </a:r>
          </a:p>
          <a:p>
            <a:pPr algn="ctr" lvl="0">
              <a:lnSpc>
                <a:spcPct val="107899"/>
              </a:lnSpc>
            </a:pP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유지되는가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?
Decoder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생성한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시계열이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원본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패턴과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구조적으로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유사한지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평가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
(DTW, cosine similarity, latent distance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등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63800" y="2082800"/>
            <a:ext cx="22212300" cy="16637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02. Project Overview - </a:t>
            </a:r>
            <a:r>
              <a:rPr lang="en" sz="6266" b="false" i="false" u="none" strike="noStrike" spc="-313">
                <a:solidFill>
                  <a:srgbClr val="000000"/>
                </a:solidFill>
                <a:latin typeface="Lexend Bold"/>
              </a:rPr>
              <a:t>Experiments to Validat</a:t>
            </a:r>
            <a:r>
              <a:rPr lang="en" sz="6666" b="false" i="false" u="none" strike="noStrike" spc="-333">
                <a:solidFill>
                  <a:srgbClr val="000000"/>
                </a:solidFill>
                <a:latin typeface="Lexend Bold"/>
              </a:rPr>
              <a:t>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p.07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035300" y="4445000"/>
            <a:ext cx="1155700" cy="1155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36900" y="4533900"/>
            <a:ext cx="965200" cy="965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463800" y="2082800"/>
            <a:ext cx="168402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03. Dataset 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08500" y="4648200"/>
            <a:ext cx="5689600" cy="723900"/>
          </a:xfrm>
          <a:prstGeom prst="rect">
            <a:avLst/>
          </a:prstGeom>
        </p:spPr>
        <p:txBody>
          <a:bodyPr anchor="b" rtlCol="false" lIns="0" tIns="0" rIns="0" bIns="47413"/>
          <a:lstStyle/>
          <a:p>
            <a:pPr algn="l" lvl="0">
              <a:lnSpc>
                <a:spcPct val="996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Bold"/>
              </a:rPr>
              <a:t>Dataset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84400" y="6350000"/>
            <a:ext cx="9766300" cy="5626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3333" b="true" i="false" u="none" strike="noStrike">
                <a:solidFill>
                  <a:srgbClr val="000000"/>
                </a:solidFill>
                <a:latin typeface="Heebo ExtraLight"/>
              </a:rPr>
              <a:t>ETT Dataset (Electricity Transformer Temperature)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전력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변압기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온도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+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부하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변수를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포함한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multivariate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시계열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시간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해상도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:</a:t>
            </a:r>
          </a:p>
          <a:p>
            <a:pPr algn="l" lvl="2" indent="-342900" marL="71539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ETTh: 1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시간</a:t>
            </a:r>
          </a:p>
          <a:p>
            <a:pPr algn="l" lvl="2" indent="-342900" marL="71539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ETTm: 15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분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Feature 7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→ window slicing &amp; latent representation learning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에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적합</a:t>
            </a: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시계열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다양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→ RL imitation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학습에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유리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
Informer(AAAI 2021)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에서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발표된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대표적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long-sequence forecasting benchmark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74700" y="5105400"/>
            <a:ext cx="9766300" cy="74676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" sz="3333" b="true" i="false" u="none" strike="noStrike">
                <a:solidFill>
                  <a:srgbClr val="000000"/>
                </a:solidFill>
                <a:latin typeface="Heebo ExtraLight"/>
              </a:rPr>
              <a:t>Variables: OT (Oil Temperature)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" sz="3333" b="true" i="false" u="none" strike="noStrike">
                <a:solidFill>
                  <a:srgbClr val="000000"/>
                </a:solidFill>
                <a:latin typeface="Heebo ExtraLight"/>
              </a:rPr>
              <a:t>Total Length: 8,545 timesteps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" sz="3333" b="true" i="false" u="none" strike="noStrike">
                <a:solidFill>
                  <a:srgbClr val="000000"/>
                </a:solidFill>
                <a:latin typeface="Heebo ExtraLight"/>
              </a:rPr>
              <a:t>Normalization: Z-score normalization</a:t>
            </a:r>
          </a:p>
          <a:p>
            <a:pPr algn="l" lvl="2" indent="-342900" marL="76619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en" sz="3333" b="true" i="false" u="none" strike="noStrike">
                <a:solidFill>
                  <a:srgbClr val="000000"/>
                </a:solidFill>
                <a:latin typeface="Heebo ExtraLight"/>
              </a:rPr>
              <a:t>Mean: μ = E[X]</a:t>
            </a:r>
          </a:p>
          <a:p>
            <a:pPr algn="l" lvl="2" indent="-342900" marL="76619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en" sz="3333" b="true" i="false" u="none" strike="noStrike">
                <a:solidFill>
                  <a:srgbClr val="000000"/>
                </a:solidFill>
                <a:latin typeface="Heebo ExtraLight"/>
              </a:rPr>
              <a:t>Std: σ = sqrt(Var[X])</a:t>
            </a:r>
          </a:p>
          <a:p>
            <a:pPr algn="l" lvl="2" indent="-342900" marL="76619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en" sz="3333" b="true" i="false" u="none" strike="noStrike">
                <a:solidFill>
                  <a:srgbClr val="000000"/>
                </a:solidFill>
                <a:latin typeface="Heebo ExtraLight"/>
              </a:rPr>
              <a:t>Normalized: X' = (X - μ) / σ</a:t>
            </a:r>
          </a:p>
          <a:p>
            <a:pPr algn="l" lvl="2" indent="-342900" marL="76619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en" sz="3333" b="tru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" sz="3333" b="true" i="false" u="none" strike="noStrike">
                <a:solidFill>
                  <a:srgbClr val="000000"/>
                </a:solidFill>
                <a:latin typeface="Heebo ExtraLight"/>
              </a:rPr>
              <a:t>Train/Test Split:</a:t>
            </a:r>
          </a:p>
          <a:p>
            <a:pPr algn="l" lvl="2" indent="-342900" marL="76619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en" sz="3333" b="true" i="false" u="none" strike="noStrike">
                <a:solidFill>
                  <a:srgbClr val="000000"/>
                </a:solidFill>
                <a:latin typeface="Heebo ExtraLight"/>
              </a:rPr>
              <a:t>Training: [0 : T-100]</a:t>
            </a:r>
          </a:p>
          <a:p>
            <a:pPr algn="l" lvl="2" indent="-342900" marL="76619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en" sz="3333" b="true" i="false" u="none" strike="noStrike">
                <a:solidFill>
                  <a:srgbClr val="000000"/>
                </a:solidFill>
                <a:latin typeface="Heebo ExtraLight"/>
              </a:rPr>
              <a:t>Test: [T-100 : T]</a:t>
            </a:r>
          </a:p>
          <a:p>
            <a:pPr algn="l" lvl="2" indent="-342900" marL="76619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en" sz="3333" b="true" i="false" u="none" strike="noStrike">
                <a:solidFill>
                  <a:srgbClr val="000000"/>
                </a:solidFill>
                <a:latin typeface="Heebo ExtraLight"/>
              </a:rPr>
              <a:t>Validation: Last 100 timesteps for forecasting evaluation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p.08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3800" y="2082800"/>
            <a:ext cx="215392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04. Reinforcement Learning Algorithm
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81600" y="3759200"/>
            <a:ext cx="15748000" cy="812800"/>
          </a:xfrm>
          <a:prstGeom prst="rect">
            <a:avLst/>
          </a:prstGeom>
        </p:spPr>
        <p:txBody>
          <a:bodyPr anchor="b" rtlCol="false" lIns="0" tIns="0" rIns="0" bIns="47413"/>
          <a:lstStyle/>
          <a:p>
            <a:pPr algn="ctr" lvl="0">
              <a:lnSpc>
                <a:spcPct val="996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Bold"/>
              </a:rPr>
              <a:t>Pipeline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317500" y="7772400"/>
            <a:ext cx="1930400" cy="876300"/>
          </a:xfrm>
          <a:prstGeom prst="rect">
            <a:avLst/>
          </a:prstGeom>
        </p:spPr>
        <p:txBody>
          <a:bodyPr anchor="b" rtlCol="false" lIns="0" tIns="0" rIns="0" bIns="33867"/>
          <a:lstStyle/>
          <a:p>
            <a:pPr algn="ctr" lvl="0">
              <a:lnSpc>
                <a:spcPct val="99600"/>
              </a:lnSpc>
            </a:pPr>
            <a:r>
              <a:rPr lang="en" sz="2666" b="false" i="false" u="none" strike="noStrike">
                <a:solidFill>
                  <a:srgbClr val="000000"/>
                </a:solidFill>
                <a:latin typeface="Heebo ExtraBold"/>
              </a:rPr>
              <a:t>Input Data (ETTh1)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463800" y="8051800"/>
            <a:ext cx="16129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343400" y="6591300"/>
            <a:ext cx="2806700" cy="3048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4533900" y="7086600"/>
            <a:ext cx="3175000" cy="1765300"/>
          </a:xfrm>
          <a:prstGeom prst="rect">
            <a:avLst/>
          </a:prstGeom>
        </p:spPr>
        <p:txBody>
          <a:bodyPr anchor="b" rtlCol="false" lIns="0" tIns="0" rIns="0" bIns="33867"/>
          <a:lstStyle/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" sz="1872" b="false" i="false" u="none" strike="noStrike">
                <a:solidFill>
                  <a:srgbClr val="000000"/>
                </a:solidFill>
                <a:latin typeface="Heebo ExtraBold"/>
              </a:rPr>
              <a:t/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" sz="1872" b="false" i="false" u="none" strike="noStrike">
                <a:solidFill>
                  <a:srgbClr val="000000"/>
                </a:solidFill>
                <a:latin typeface="Heebo ExtraBold"/>
              </a:rPr>
              <a:t>Pre-training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" sz="1872" b="false" i="false" u="none" strike="noStrike">
                <a:solidFill>
                  <a:srgbClr val="000000"/>
                </a:solidFill>
                <a:latin typeface="Heebo ExtraBold"/>
              </a:rPr>
              <a:t>learn latent representations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" sz="1872" b="false" i="false" u="none" strike="noStrike">
                <a:solidFill>
                  <a:srgbClr val="000000"/>
                </a:solidFill>
                <a:latin typeface="Heebo ExtraBold"/>
              </a:rPr>
              <a:t>Compress temporal patterns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2900" y="10058400"/>
            <a:ext cx="7823200" cy="1155700"/>
          </a:xfrm>
          <a:prstGeom prst="rect">
            <a:avLst/>
          </a:prstGeom>
        </p:spPr>
        <p:txBody>
          <a:bodyPr anchor="b" rtlCol="false" lIns="0" tIns="0" rIns="0" bIns="33867"/>
          <a:lstStyle/>
          <a:p>
            <a:pPr algn="ctr" lvl="0">
              <a:lnSpc>
                <a:spcPct val="99600"/>
              </a:lnSpc>
            </a:pPr>
            <a:r>
              <a:rPr lang="en" sz="2392" b="false" i="false" u="none" strike="noStrike">
                <a:solidFill>
                  <a:srgbClr val="000000"/>
                </a:solidFill>
                <a:highlight>
                  <a:srgbClr val="E4F0D5"/>
                </a:highlight>
                <a:latin typeface="Heebo ExtraBold"/>
              </a:rPr>
              <a:t>Phase 1: VAE </a:t>
            </a:r>
          </a:p>
          <a:p>
            <a:pPr algn="ctr" lvl="0">
              <a:lnSpc>
                <a:spcPct val="99600"/>
              </a:lnSpc>
            </a:pPr>
            <a:r>
              <a:rPr lang="en" sz="2392" b="false" i="false" u="none" strike="noStrike">
                <a:solidFill>
                  <a:srgbClr val="000000"/>
                </a:solidFill>
                <a:highlight>
                  <a:srgbClr val="E4F0D5"/>
                </a:highlight>
                <a:latin typeface="Heebo ExtraBold"/>
              </a:rPr>
              <a:t> Pre-train autoencoder</a:t>
            </a:r>
          </a:p>
          <a:p>
            <a:pPr algn="ctr" lvl="0">
              <a:lnSpc>
                <a:spcPct val="99600"/>
              </a:lnSpc>
            </a:pPr>
            <a:r>
              <a:rPr lang="en" sz="2392" b="false" i="false" u="none" strike="noStrike">
                <a:solidFill>
                  <a:srgbClr val="000000"/>
                </a:solidFill>
                <a:highlight>
                  <a:srgbClr val="E4F0D5"/>
                </a:highlight>
                <a:latin typeface="Heebo ExtraBold"/>
              </a:rPr>
              <a:t/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404100" y="8051800"/>
            <a:ext cx="1917700" cy="127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690100" y="6565900"/>
            <a:ext cx="2971800" cy="3238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931400" y="7391400"/>
            <a:ext cx="2565400" cy="1562100"/>
          </a:xfrm>
          <a:prstGeom prst="rect">
            <a:avLst/>
          </a:prstGeom>
        </p:spPr>
        <p:txBody>
          <a:bodyPr anchor="b" rtlCol="false" lIns="0" tIns="0" rIns="0" bIns="33867"/>
          <a:lstStyle/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" sz="1987" b="false" i="false" u="none" strike="noStrike">
                <a:solidFill>
                  <a:srgbClr val="000000"/>
                </a:solidFill>
                <a:latin typeface="Heebo ExtraBold"/>
              </a:rPr>
              <a:t>Find smooth segment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" sz="1987" b="false" i="false" u="none" strike="noStrike">
                <a:solidFill>
                  <a:srgbClr val="000000"/>
                </a:solidFill>
                <a:latin typeface="Heebo ExtraBold"/>
              </a:rPr>
              <a:t>Extraction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" sz="1987" b="false" i="false" u="none" strike="noStrike">
                <a:solidFill>
                  <a:srgbClr val="000000"/>
                </a:solidFill>
                <a:latin typeface="Heebo ExtraBold"/>
              </a:rPr>
              <a:t> Encode sequential windows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53300" y="10058400"/>
            <a:ext cx="7823200" cy="1244600"/>
          </a:xfrm>
          <a:prstGeom prst="rect">
            <a:avLst/>
          </a:prstGeom>
        </p:spPr>
        <p:txBody>
          <a:bodyPr anchor="b" rtlCol="false" lIns="0" tIns="0" rIns="0" bIns="33867"/>
          <a:lstStyle/>
          <a:p>
            <a:pPr algn="ctr" lvl="0">
              <a:lnSpc>
                <a:spcPct val="99600"/>
              </a:lnSpc>
            </a:pPr>
            <a:r>
              <a:rPr lang="en" sz="2392" b="false" i="false" u="none" strike="noStrike">
                <a:solidFill>
                  <a:srgbClr val="000000"/>
                </a:solidFill>
                <a:highlight>
                  <a:srgbClr val="E4F0D5"/>
                </a:highlight>
                <a:latin typeface="Heebo ExtraBold"/>
              </a:rPr>
              <a:t>Phase 2:  Extract </a:t>
            </a:r>
          </a:p>
          <a:p>
            <a:pPr algn="ctr" lvl="0">
              <a:lnSpc>
                <a:spcPct val="99600"/>
              </a:lnSpc>
            </a:pPr>
            <a:r>
              <a:rPr lang="en" sz="2392" b="false" i="false" u="none" strike="noStrike">
                <a:solidFill>
                  <a:srgbClr val="000000"/>
                </a:solidFill>
                <a:highlight>
                  <a:srgbClr val="E4F0D5"/>
                </a:highlight>
                <a:latin typeface="Heebo ExtraBold"/>
              </a:rPr>
              <a:t>teacher trajectory
</a:t>
            </a:r>
          </a:p>
          <a:p>
            <a:pPr algn="ctr" lvl="0">
              <a:lnSpc>
                <a:spcPct val="99600"/>
              </a:lnSpc>
            </a:pPr>
            <a:r>
              <a:rPr lang="en" sz="2392" b="false" i="false" u="none" strike="noStrike">
                <a:solidFill>
                  <a:srgbClr val="000000"/>
                </a:solidFill>
                <a:highlight>
                  <a:srgbClr val="E4F0D5"/>
                </a:highlight>
                <a:latin typeface="Heebo ExtraBold"/>
              </a:rPr>
              <a:t/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341600" y="6565900"/>
            <a:ext cx="2971800" cy="32385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5582900" y="7454900"/>
            <a:ext cx="2565400" cy="1574800"/>
          </a:xfrm>
          <a:prstGeom prst="rect">
            <a:avLst/>
          </a:prstGeom>
        </p:spPr>
        <p:txBody>
          <a:bodyPr anchor="b" rtlCol="false" lIns="0" tIns="0" rIns="0" bIns="33867"/>
          <a:lstStyle/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" sz="1987" b="false" i="false" u="none" strike="noStrike">
                <a:solidFill>
                  <a:srgbClr val="000000"/>
                </a:solidFill>
                <a:latin typeface="Heebo ExtraBold"/>
              </a:rPr>
              <a:t>Train RL policy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" sz="1987" b="false" i="false" u="none" strike="noStrike">
                <a:solidFill>
                  <a:srgbClr val="000000"/>
                </a:solidFill>
                <a:latin typeface="Heebo ExtraBold"/>
              </a:rPr>
              <a:t>Method 1: Supervised + SAC
Method 2: Behavioral Cloning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93700" y="10134600"/>
            <a:ext cx="7823200" cy="800100"/>
          </a:xfrm>
          <a:prstGeom prst="rect">
            <a:avLst/>
          </a:prstGeom>
        </p:spPr>
        <p:txBody>
          <a:bodyPr anchor="b" rtlCol="false" lIns="0" tIns="0" rIns="0" bIns="33867"/>
          <a:lstStyle/>
          <a:p>
            <a:pPr algn="ctr" lvl="0">
              <a:lnSpc>
                <a:spcPct val="99600"/>
              </a:lnSpc>
            </a:pPr>
            <a:r>
              <a:rPr lang="en" sz="2392" b="fals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Bold"/>
              </a:rPr>
              <a:t>Phase 3 : RL Training</a:t>
            </a:r>
          </a:p>
          <a:p>
            <a:pPr algn="ctr" lvl="0">
              <a:lnSpc>
                <a:spcPct val="99600"/>
              </a:lnSpc>
            </a:pPr>
            <a:r>
              <a:rPr lang="en" sz="2392" b="fals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Bold"/>
              </a:rPr>
              <a:t/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055600" y="8051800"/>
            <a:ext cx="1917700" cy="127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561300" y="6565900"/>
            <a:ext cx="2971800" cy="32385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20815300" y="7086600"/>
            <a:ext cx="2565400" cy="2184400"/>
          </a:xfrm>
          <a:prstGeom prst="rect">
            <a:avLst/>
          </a:prstGeom>
        </p:spPr>
        <p:txBody>
          <a:bodyPr anchor="b" rtlCol="false" lIns="0" tIns="0" rIns="0" bIns="25246"/>
          <a:lstStyle/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" sz="1987" b="false" i="false" u="none" strike="noStrike">
                <a:solidFill>
                  <a:srgbClr val="000000"/>
                </a:solidFill>
                <a:latin typeface="Heebo ExtraBold"/>
              </a:rPr>
              <a:t>Apply learned policy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" sz="1987" b="false" i="false" u="none" strike="noStrike">
                <a:solidFill>
                  <a:srgbClr val="000000"/>
                </a:solidFill>
                <a:latin typeface="Heebo ExtraBold"/>
              </a:rPr>
              <a:t>Generate future forecasts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" sz="1987" b="false" i="false" u="none" strike="noStrike">
                <a:solidFill>
                  <a:srgbClr val="000000"/>
                </a:solidFill>
                <a:latin typeface="Heebo ExtraBold"/>
              </a:rPr>
              <a:t>Decode to raw scale</a:t>
            </a:r>
            <a:r>
              <a:rPr lang="en" sz="1987" b="false" i="false" u="none" strike="noStrike">
                <a:solidFill>
                  <a:srgbClr val="000000"/>
                </a:solidFill>
                <a:latin typeface="Heebo ExtraBold"/>
              </a:rPr>
              <a:t/>
            </a:r>
            <a:r>
              <a:rPr lang="en" sz="1987" b="false" i="false" u="none" strike="noStrike">
                <a:solidFill>
                  <a:srgbClr val="000000"/>
                </a:solidFill>
                <a:latin typeface="Heebo ExtraBold"/>
              </a:rPr>
              <a:t/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313400" y="10160000"/>
            <a:ext cx="7823200" cy="787400"/>
          </a:xfrm>
          <a:prstGeom prst="rect">
            <a:avLst/>
          </a:prstGeom>
        </p:spPr>
        <p:txBody>
          <a:bodyPr anchor="b" rtlCol="false" lIns="0" tIns="0" rIns="0" bIns="30382"/>
          <a:lstStyle/>
          <a:p>
            <a:pPr algn="ctr" lvl="0">
              <a:lnSpc>
                <a:spcPct val="99600"/>
              </a:lnSpc>
            </a:pPr>
            <a:r>
              <a:rPr lang="en" sz="2392" b="false" i="false" u="none" strike="noStrike">
                <a:solidFill>
                  <a:srgbClr val="000000"/>
                </a:solidFill>
                <a:highlight>
                  <a:srgbClr val="CDE9FC"/>
                </a:highlight>
                <a:latin typeface="Heebo ExtraBold"/>
              </a:rPr>
              <a:t>Phase 4:Forecasting </a:t>
            </a:r>
          </a:p>
          <a:p>
            <a:pPr algn="ctr" lvl="0">
              <a:lnSpc>
                <a:spcPct val="99600"/>
              </a:lnSpc>
            </a:pPr>
            <a:r>
              <a:rPr lang="en" sz="2392" b="false" i="false" u="none" strike="noStrike">
                <a:solidFill>
                  <a:srgbClr val="000000"/>
                </a:solidFill>
                <a:highlight>
                  <a:srgbClr val="CDE9FC"/>
                </a:highlight>
                <a:latin typeface="Heebo ExtraBold"/>
              </a:rPr>
              <a:t/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491200" y="8051800"/>
            <a:ext cx="1917700" cy="1270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p.09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" y="5384800"/>
            <a:ext cx="6223000" cy="9652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ctr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FFFFFF"/>
                </a:solidFill>
                <a:highlight>
                  <a:srgbClr val="FD9F28"/>
                </a:highlight>
                <a:latin typeface="Lexend SemiBold"/>
              </a:rPr>
              <a:t>1. Continuous </a:t>
            </a:r>
          </a:p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FFFFF"/>
                </a:solidFill>
                <a:highlight>
                  <a:srgbClr val="FD9F28"/>
                </a:highlight>
                <a:latin typeface="Lexend SemiBold"/>
              </a:rPr>
              <a:t>Action Space</a:t>
            </a:r>
            <a:r>
              <a:rPr lang="ko-KR" sz="2933" b="false" i="false" u="none" strike="noStrike">
                <a:solidFill>
                  <a:srgbClr val="FFFFFF"/>
                </a:solidFill>
                <a:highlight>
                  <a:srgbClr val="FD9F28"/>
                </a:highlight>
                <a:ea typeface="Lexend SemiBold"/>
              </a:rPr>
              <a:t>에</a:t>
            </a:r>
            <a:r>
              <a:rPr lang="en-US" sz="2933" b="false" i="false" u="none" strike="noStrike">
                <a:solidFill>
                  <a:srgbClr val="FFFFFF"/>
                </a:solidFill>
                <a:highlight>
                  <a:srgbClr val="FD9F28"/>
                </a:highlight>
                <a:latin typeface="Lexend SemiBold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highlight>
                  <a:srgbClr val="FD9F28"/>
                </a:highlight>
                <a:ea typeface="Lexend SemiBold"/>
              </a:rPr>
              <a:t>최적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82800" y="6896100"/>
            <a:ext cx="6159500" cy="40259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53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latent dynamics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는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32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차원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연속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공간이며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,
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각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action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은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Δz_t ∈ ℝ³²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로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아주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미세한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조정이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필요함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.</a:t>
            </a:r>
          </a:p>
          <a:p>
            <a:pPr algn="l" lvl="1" indent="-342900" marL="342900">
              <a:lnSpc>
                <a:spcPct val="1253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SAC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은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다음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특징이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있음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:</a:t>
            </a:r>
          </a:p>
          <a:p>
            <a:pPr algn="l" lvl="2" indent="-342900" marL="647700">
              <a:lnSpc>
                <a:spcPct val="125329"/>
              </a:lnSpc>
              <a:buClr>
                <a:srgbClr val="000000"/>
              </a:buClr>
              <a:buFont typeface="Arial"/>
              <a:buChar char="○"/>
            </a:pP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Gaussian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정책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→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연속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action smooth control</a:t>
            </a:r>
          </a:p>
          <a:p>
            <a:pPr algn="l" lvl="2" indent="-342900" marL="647700">
              <a:lnSpc>
                <a:spcPct val="125329"/>
              </a:lnSpc>
              <a:buClr>
                <a:srgbClr val="000000"/>
              </a:buClr>
              <a:buFont typeface="Arial"/>
              <a:buChar char="○"/>
            </a:pP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tanh squashing →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안정적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action clipping</a:t>
            </a:r>
          </a:p>
          <a:p>
            <a:pPr algn="l" lvl="2" indent="-342900" marL="647700">
              <a:lnSpc>
                <a:spcPct val="125329"/>
              </a:lnSpc>
              <a:buClr>
                <a:srgbClr val="000000"/>
              </a:buClr>
              <a:buFont typeface="Arial"/>
              <a:buChar char="○"/>
            </a:pP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deterministic policy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보다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훨씬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안정성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↑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549900" y="8420100"/>
            <a:ext cx="59182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9105900" y="6642100"/>
            <a:ext cx="5575300" cy="54102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53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Time-series forecasting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에서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미래는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단일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trajectory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가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아님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.</a:t>
            </a:r>
          </a:p>
          <a:p>
            <a:pPr algn="l" lvl="1" indent="-342900" marL="342900">
              <a:lnSpc>
                <a:spcPct val="1253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SAC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은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entropy-maximizing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정책을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통해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:</a:t>
            </a:r>
          </a:p>
          <a:p>
            <a:pPr algn="l" lvl="2" indent="-342900" marL="647700">
              <a:lnSpc>
                <a:spcPct val="125329"/>
              </a:lnSpc>
              <a:buClr>
                <a:srgbClr val="000000"/>
              </a:buClr>
              <a:buFont typeface="Arial"/>
              <a:buChar char="○"/>
            </a:pP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다양한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Δz_t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후보를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탐색</a:t>
            </a:r>
          </a:p>
          <a:p>
            <a:pPr algn="l" lvl="2" indent="-342900" marL="647700">
              <a:lnSpc>
                <a:spcPct val="125329"/>
              </a:lnSpc>
              <a:buClr>
                <a:srgbClr val="000000"/>
              </a:buClr>
              <a:buFont typeface="Arial"/>
              <a:buChar char="○"/>
            </a:pP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여러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미래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가능성을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열어두는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policy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학습</a:t>
            </a:r>
          </a:p>
          <a:p>
            <a:pPr algn="l" lvl="2" indent="-342900" marL="647700">
              <a:lnSpc>
                <a:spcPct val="125329"/>
              </a:lnSpc>
              <a:buClr>
                <a:srgbClr val="000000"/>
              </a:buClr>
              <a:buFont typeface="Arial"/>
              <a:buChar char="○"/>
            </a:pP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overfitting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방지</a:t>
            </a:r>
          </a:p>
          <a:p>
            <a:pPr algn="l" lvl="1" indent="-342900" marL="342900">
              <a:lnSpc>
                <a:spcPct val="12532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하지만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이번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task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는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precision-oriented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이기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때문에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α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를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낮게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설정하여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탐색보다는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안정적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imitation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에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초점을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둠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.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598400" y="8420100"/>
            <a:ext cx="5918200" cy="50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6281400" y="6527800"/>
            <a:ext cx="5562600" cy="50292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532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다른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actor–critic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대비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SAC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이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탁월한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이유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:</a:t>
            </a:r>
          </a:p>
          <a:p>
            <a:pPr algn="l" lvl="2" indent="-342900" marL="647700">
              <a:lnSpc>
                <a:spcPct val="125329"/>
              </a:lnSpc>
              <a:buClr>
                <a:srgbClr val="000000"/>
              </a:buClr>
              <a:buFont typeface="Arial"/>
              <a:buChar char="○"/>
            </a:pP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Double Q-network → overestimation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방지</a:t>
            </a:r>
          </a:p>
          <a:p>
            <a:pPr algn="l" lvl="2" indent="-342900" marL="647700">
              <a:lnSpc>
                <a:spcPct val="125329"/>
              </a:lnSpc>
              <a:buClr>
                <a:srgbClr val="000000"/>
              </a:buClr>
              <a:buFont typeface="Arial"/>
              <a:buChar char="○"/>
            </a:pP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Soft update → training stability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증가</a:t>
            </a:r>
          </a:p>
          <a:p>
            <a:pPr algn="l" lvl="2" indent="-342900" marL="647700">
              <a:lnSpc>
                <a:spcPct val="125329"/>
              </a:lnSpc>
              <a:buClr>
                <a:srgbClr val="000000"/>
              </a:buClr>
              <a:buFont typeface="Arial"/>
              <a:buChar char="○"/>
            </a:pP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Off-policy → replay buffer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활용해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sample efficiency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높음</a:t>
            </a:r>
          </a:p>
          <a:p>
            <a:pPr algn="l" lvl="1" indent="-342900" marL="342900">
              <a:lnSpc>
                <a:spcPct val="12532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이는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“teacher trajectory imitation”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같은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정밀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imitation learning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환경에서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필수적인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Lexend SemiBold"/>
              </a:rPr>
              <a:t>특성임</a:t>
            </a:r>
            <a:r>
              <a:rPr lang="en-US" sz="2400" b="false" i="false" u="none" strike="noStrike">
                <a:solidFill>
                  <a:srgbClr val="595959"/>
                </a:solidFill>
                <a:latin typeface="Lexend SemiBold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15400" y="5384800"/>
            <a:ext cx="6565900" cy="9652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ctr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FFFFFF"/>
                </a:solidFill>
                <a:highlight>
                  <a:srgbClr val="FD9F28"/>
                </a:highlight>
                <a:latin typeface="Lexend SemiBold"/>
              </a:rPr>
              <a:t>2. Entropy Regularization → Multi-future Exploration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00300" y="5384800"/>
            <a:ext cx="7823200" cy="9652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ctr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FFFFFF"/>
                </a:solidFill>
                <a:highlight>
                  <a:srgbClr val="FD9F28"/>
                </a:highlight>
                <a:latin typeface="Lexend SemiBold"/>
              </a:rPr>
              <a:t>3. Stability + </a:t>
            </a:r>
          </a:p>
          <a:p>
            <a:pPr algn="ctr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FFFFFF"/>
                </a:solidFill>
                <a:highlight>
                  <a:srgbClr val="FD9F28"/>
                </a:highlight>
                <a:latin typeface="Lexend SemiBold"/>
              </a:rPr>
              <a:t>Sample Efficiency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63800" y="2082800"/>
            <a:ext cx="215392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04. Reinforcement Learning Algorithm
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81600" y="3771900"/>
            <a:ext cx="15748000" cy="889000"/>
          </a:xfrm>
          <a:prstGeom prst="rect">
            <a:avLst/>
          </a:prstGeom>
        </p:spPr>
        <p:txBody>
          <a:bodyPr anchor="b" rtlCol="false" lIns="0" tIns="0" rIns="0" bIns="47413"/>
          <a:lstStyle/>
          <a:p>
            <a:pPr algn="ctr" lvl="0">
              <a:lnSpc>
                <a:spcPct val="99600"/>
              </a:lnSpc>
            </a:pP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왜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 Soft Actor-Critic(SAC)</a:t>
            </a: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을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Heebo ExtraBold"/>
              </a:rPr>
              <a:t>사용했는가</a:t>
            </a:r>
            <a:r>
              <a:rPr lang="en-US" sz="3733" b="false" i="false" u="none" strike="noStrike">
                <a:solidFill>
                  <a:srgbClr val="000000"/>
                </a:solidFill>
                <a:latin typeface="Heebo ExtraBold"/>
              </a:rPr>
              <a:t>?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p.10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3800" y="2082800"/>
            <a:ext cx="215392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04. Reinforcement Learning Algorithm
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81600" y="3911600"/>
            <a:ext cx="15748000" cy="660400"/>
          </a:xfrm>
          <a:prstGeom prst="rect">
            <a:avLst/>
          </a:prstGeom>
        </p:spPr>
        <p:txBody>
          <a:bodyPr anchor="b" rtlCol="false" lIns="0" tIns="0" rIns="0" bIns="47413"/>
          <a:lstStyle/>
          <a:p>
            <a:pPr algn="ctr" lvl="0">
              <a:lnSpc>
                <a:spcPct val="996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Bold"/>
              </a:rPr>
              <a:t>SAC Arichtecture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2900" y="5575300"/>
            <a:ext cx="10426700" cy="22479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기존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forecasting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은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raw value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를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직접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예측하지만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,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우리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알고리즘은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latent space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에서의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이동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(Δz)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을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학습한다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.</a:t>
            </a:r>
          </a:p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즉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,</a:t>
            </a:r>
          </a:p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여기서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Δz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는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RL Agent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가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예측하며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, teacher trajectory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는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실제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데이터로부터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추출된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latent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변화로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설정된다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36500" y="5435600"/>
            <a:ext cx="5054600" cy="2247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32800"/>
              </a:lnSpc>
            </a:pPr>
            <a:r>
              <a:rPr lang="en" sz="2266" b="false" i="false" u="none" strike="noStrike" spc="-23">
                <a:solidFill>
                  <a:srgbClr val="000000"/>
                </a:solidFill>
                <a:ea typeface="Heebo Regular"/>
              </a:rPr>
              <a:t>✔ Encoder (VAE-like)</a:t>
            </a:r>
          </a:p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Window size=96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입력</a:t>
            </a:r>
          </a:p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" sz="2266" b="false" i="false" u="none" strike="noStrike" spc="-23">
                <a:solidFill>
                  <a:srgbClr val="000000"/>
                </a:solidFill>
                <a:latin typeface="Heebo Regular"/>
              </a:rPr>
              <a:t>2-layer MLP + LayerNorm + Dropout</a:t>
            </a:r>
          </a:p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μ, logσ²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를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통해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latent 32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차원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생성</a:t>
            </a:r>
          </a:p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Reparameterization trick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적용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09700" y="8445500"/>
            <a:ext cx="103759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611100" y="8445500"/>
            <a:ext cx="103759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477500" y="6299200"/>
            <a:ext cx="34417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0477500" y="10807700"/>
            <a:ext cx="3441700" cy="254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612900" y="4838700"/>
            <a:ext cx="10464800" cy="596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ko-KR" sz="3333" b="true" i="false" u="none" strike="noStrike">
                <a:solidFill>
                  <a:srgbClr val="00194F"/>
                </a:solidFill>
                <a:ea typeface="Heebo Regular"/>
              </a:rPr>
              <a:t>학습</a:t>
            </a:r>
            <a:r>
              <a:rPr lang="en-US" sz="3333" b="true" i="false" u="none" strike="noStrike">
                <a:solidFill>
                  <a:srgbClr val="00194F"/>
                </a:solidFill>
                <a:latin typeface="Heebo Regular"/>
              </a:rPr>
              <a:t> </a:t>
            </a:r>
            <a:r>
              <a:rPr lang="ko-KR" sz="3333" b="true" i="false" u="none" strike="noStrike">
                <a:solidFill>
                  <a:srgbClr val="00194F"/>
                </a:solidFill>
                <a:ea typeface="Heebo Regular"/>
              </a:rPr>
              <a:t>대상</a:t>
            </a:r>
            <a:r>
              <a:rPr lang="en-US" sz="3333" b="true" i="false" u="none" strike="noStrike">
                <a:solidFill>
                  <a:srgbClr val="00194F"/>
                </a:solidFill>
                <a:latin typeface="Heebo Regular"/>
              </a:rPr>
              <a:t>: Latent Dynamics (</a:t>
            </a:r>
            <a:r>
              <a:rPr lang="ko-KR" sz="3333" b="true" i="false" u="none" strike="noStrike">
                <a:solidFill>
                  <a:srgbClr val="00194F"/>
                </a:solidFill>
                <a:ea typeface="Heebo Regular"/>
              </a:rPr>
              <a:t>잠재</a:t>
            </a:r>
            <a:r>
              <a:rPr lang="en-US" sz="3333" b="true" i="false" u="none" strike="noStrike">
                <a:solidFill>
                  <a:srgbClr val="00194F"/>
                </a:solidFill>
                <a:latin typeface="Heebo Regular"/>
              </a:rPr>
              <a:t> </a:t>
            </a:r>
            <a:r>
              <a:rPr lang="ko-KR" sz="3333" b="true" i="false" u="none" strike="noStrike">
                <a:solidFill>
                  <a:srgbClr val="00194F"/>
                </a:solidFill>
                <a:ea typeface="Heebo Regular"/>
              </a:rPr>
              <a:t>동역학</a:t>
            </a:r>
            <a:r>
              <a:rPr lang="en-US" sz="3333" b="true" i="false" u="none" strike="noStrike">
                <a:solidFill>
                  <a:srgbClr val="00194F"/>
                </a:solidFill>
                <a:latin typeface="Heebo Regular"/>
              </a:rPr>
              <a:t>)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63800" y="6565900"/>
            <a:ext cx="1638300" cy="4318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2636500" y="4838700"/>
            <a:ext cx="10464800" cy="596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ko-KR" sz="3333" b="true" i="false" u="none" strike="noStrike">
                <a:solidFill>
                  <a:srgbClr val="00194F"/>
                </a:solidFill>
                <a:ea typeface="Heebo Regular"/>
              </a:rPr>
              <a:t>기본</a:t>
            </a:r>
            <a:r>
              <a:rPr lang="en-US" sz="3333" b="true" i="false" u="none" strike="noStrike">
                <a:solidFill>
                  <a:srgbClr val="00194F"/>
                </a:solidFill>
                <a:latin typeface="Heebo Regular"/>
              </a:rPr>
              <a:t> : Autoencoder (Encoder–Decoder) </a:t>
            </a:r>
            <a:r>
              <a:rPr lang="ko-KR" sz="3333" b="true" i="false" u="none" strike="noStrike">
                <a:solidFill>
                  <a:srgbClr val="00194F"/>
                </a:solidFill>
                <a:ea typeface="Heebo Regular"/>
              </a:rPr>
              <a:t>구조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008600" y="5435600"/>
            <a:ext cx="5054600" cy="222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32800"/>
              </a:lnSpc>
            </a:pPr>
            <a:r>
              <a:rPr lang="en" sz="2266" b="false" i="false" u="none" strike="noStrike" spc="-23">
                <a:solidFill>
                  <a:srgbClr val="000000"/>
                </a:solidFill>
                <a:ea typeface="Lexend Regular"/>
              </a:rPr>
              <a:t>✔ Decoder</a:t>
            </a:r>
          </a:p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false" i="false" u="none" strike="noStrike" spc="-23">
                <a:solidFill>
                  <a:srgbClr val="000000"/>
                </a:solidFill>
                <a:latin typeface="Lexend Regular"/>
              </a:rPr>
              <a:t>z(32) → window(96)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Lexend Regular"/>
              </a:rPr>
              <a:t>복원</a:t>
            </a:r>
          </a:p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false" i="false" u="none" strike="noStrike" spc="-23">
                <a:solidFill>
                  <a:srgbClr val="000000"/>
                </a:solidFill>
                <a:latin typeface="Lexend Regular"/>
              </a:rPr>
              <a:t>Sequence-aware decoder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Lexend Regular"/>
              </a:rPr>
              <a:t>아님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Lexend Regular"/>
              </a:rPr>
              <a:t> (local window reconstruction)</a:t>
            </a:r>
          </a:p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false" i="false" u="none" strike="noStrike" spc="-23">
                <a:solidFill>
                  <a:srgbClr val="000000"/>
                </a:solidFill>
                <a:latin typeface="Lexend Regular"/>
              </a:rPr>
              <a:t>Output scale/shift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Lexend Regular"/>
              </a:rPr>
              <a:t>파라미터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Lexend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Lexend Regular"/>
              </a:rPr>
              <a:t>포함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12900" y="9525000"/>
            <a:ext cx="10426700" cy="36322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Teacher Trajectory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를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직접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생성하지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않고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,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실제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시계열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데이터를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Window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단위로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이동하면서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Encoding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한다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.</a:t>
            </a:r>
          </a:p>
          <a:p>
            <a:pPr algn="l" lvl="2" indent="-342900" marL="630682">
              <a:lnSpc>
                <a:spcPct val="132800"/>
              </a:lnSpc>
              <a:buClr>
                <a:srgbClr val="000000"/>
              </a:buClr>
              <a:buFont typeface="Arial"/>
              <a:buChar char="○"/>
            </a:pP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“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마지막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window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의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latent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변화를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ground truth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로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사용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”</a:t>
            </a:r>
          </a:p>
          <a:p>
            <a:pPr algn="l" lvl="0">
              <a:lnSpc>
                <a:spcPct val="132800"/>
              </a:lnSpc>
            </a:pPr>
            <a:r>
              <a:rPr lang="en" sz="2266" b="false" i="false" u="none" strike="noStrike" spc="-23">
                <a:solidFill>
                  <a:srgbClr val="000000"/>
                </a:solidFill>
                <a:ea typeface="Heebo Regular"/>
              </a:rPr>
              <a:t>✔ TrajectoryExtractor</a:t>
            </a:r>
          </a:p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시작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index = s
Window(s), Window(s+stride), Window(s+2·stride)…</a:t>
            </a:r>
          </a:p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Encoder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를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통과시켜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teacher latent trajectory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생성</a:t>
            </a:r>
            <a:b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</a:br>
          </a:p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" sz="2266" b="false" i="false" u="none" strike="noStrike" spc="-23">
                <a:solidFill>
                  <a:srgbClr val="000000"/>
                </a:solidFill>
                <a:latin typeface="Heebo Regular"/>
              </a:rPr>
              <a:t> 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12900" y="8788400"/>
            <a:ext cx="10464800" cy="596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-US" sz="3333" b="true" i="false" u="none" strike="noStrike">
                <a:solidFill>
                  <a:srgbClr val="00194F"/>
                </a:solidFill>
                <a:latin typeface="Heebo Regular"/>
              </a:rPr>
              <a:t>Teacher Latent Trajectory Extraction (</a:t>
            </a:r>
            <a:r>
              <a:rPr lang="ko-KR" sz="3333" b="true" i="false" u="none" strike="noStrike">
                <a:solidFill>
                  <a:srgbClr val="00194F"/>
                </a:solidFill>
                <a:ea typeface="Heebo Regular"/>
              </a:rPr>
              <a:t>핵심</a:t>
            </a:r>
            <a:r>
              <a:rPr lang="en-US" sz="3333" b="true" i="false" u="none" strike="noStrike">
                <a:solidFill>
                  <a:srgbClr val="00194F"/>
                </a:solidFill>
                <a:latin typeface="Heebo Regular"/>
              </a:rPr>
              <a:t> </a:t>
            </a:r>
            <a:r>
              <a:rPr lang="ko-KR" sz="3333" b="true" i="false" u="none" strike="noStrike">
                <a:solidFill>
                  <a:srgbClr val="00194F"/>
                </a:solidFill>
                <a:ea typeface="Heebo Regular"/>
              </a:rPr>
              <a:t>기여</a:t>
            </a:r>
            <a:r>
              <a:rPr lang="en-US" sz="3333" b="true" i="false" u="none" strike="noStrike">
                <a:solidFill>
                  <a:srgbClr val="00194F"/>
                </a:solidFill>
                <a:latin typeface="Heebo Regular"/>
              </a:rPr>
              <a:t>)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70100" y="12827000"/>
            <a:ext cx="5003800" cy="660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2420600" y="9563100"/>
            <a:ext cx="10426700" cy="31623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Teacher trajectory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와의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일치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정도를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다음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기준으로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평가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:</a:t>
            </a:r>
          </a:p>
          <a:p>
            <a:pPr algn="l" lvl="2" indent="-342900" marL="630682">
              <a:lnSpc>
                <a:spcPct val="132800"/>
              </a:lnSpc>
              <a:buClr>
                <a:srgbClr val="000000"/>
              </a:buClr>
              <a:buFont typeface="Arial"/>
              <a:buChar char="○"/>
            </a:pPr>
            <a:r>
              <a:rPr lang="en" sz="2266" b="false" i="false" u="none" strike="noStrike" spc="-23">
                <a:solidFill>
                  <a:srgbClr val="000000"/>
                </a:solidFill>
                <a:latin typeface="Heebo Regular"/>
              </a:rPr>
              <a:t>latent distance</a:t>
            </a:r>
          </a:p>
          <a:p>
            <a:pPr algn="l" lvl="2" indent="-342900" marL="630682">
              <a:lnSpc>
                <a:spcPct val="132800"/>
              </a:lnSpc>
              <a:buClr>
                <a:srgbClr val="000000"/>
              </a:buClr>
              <a:buFont typeface="Arial"/>
              <a:buChar char="○"/>
            </a:pPr>
            <a:r>
              <a:rPr lang="en" sz="2266" b="false" i="false" u="none" strike="noStrike" spc="-23">
                <a:solidFill>
                  <a:srgbClr val="000000"/>
                </a:solidFill>
                <a:latin typeface="Heebo Regular"/>
              </a:rPr>
              <a:t>reconstruction accuracy</a:t>
            </a:r>
          </a:p>
          <a:p>
            <a:pPr algn="l" lvl="2" indent="-342900" marL="630682">
              <a:lnSpc>
                <a:spcPct val="132800"/>
              </a:lnSpc>
              <a:buClr>
                <a:srgbClr val="000000"/>
              </a:buClr>
              <a:buFont typeface="Arial"/>
              <a:buChar char="○"/>
            </a:pPr>
            <a:r>
              <a:rPr lang="en" sz="2266" b="false" i="false" u="none" strike="noStrike" spc="-23">
                <a:solidFill>
                  <a:srgbClr val="000000"/>
                </a:solidFill>
                <a:latin typeface="Heebo Regular"/>
              </a:rPr>
              <a:t>direction similarity (cosine)</a:t>
            </a:r>
          </a:p>
          <a:p>
            <a:pPr algn="l" lvl="2" indent="-342900" marL="630682">
              <a:lnSpc>
                <a:spcPct val="132800"/>
              </a:lnSpc>
              <a:buClr>
                <a:srgbClr val="000000"/>
              </a:buClr>
              <a:buFont typeface="Arial"/>
              <a:buChar char="○"/>
            </a:pPr>
            <a:r>
              <a:rPr lang="en" sz="2266" b="false" i="false" u="none" strike="noStrike" spc="-23">
                <a:solidFill>
                  <a:srgbClr val="000000"/>
                </a:solidFill>
                <a:latin typeface="Heebo Regular"/>
              </a:rPr>
              <a:t>smoothness</a:t>
            </a:r>
          </a:p>
          <a:p>
            <a:pPr algn="l" lvl="2" indent="-342900" marL="630682">
              <a:lnSpc>
                <a:spcPct val="132800"/>
              </a:lnSpc>
              <a:buClr>
                <a:srgbClr val="000000"/>
              </a:buClr>
              <a:buFont typeface="Arial"/>
              <a:buChar char="○"/>
            </a:pPr>
            <a:r>
              <a:rPr lang="en" sz="2266" b="false" i="false" u="none" strike="noStrike" spc="-23">
                <a:solidFill>
                  <a:srgbClr val="000000"/>
                </a:solidFill>
                <a:latin typeface="Heebo Regular"/>
              </a:rPr>
              <a:t>final-step bonus</a:t>
            </a:r>
          </a:p>
          <a:p>
            <a:pPr algn="l" lvl="0">
              <a:lnSpc>
                <a:spcPct val="132800"/>
              </a:lnSpc>
            </a:pP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-&gt;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이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reward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구조는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teacher imitation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성능을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266" b="false" i="false" u="none" strike="noStrike" spc="-23">
                <a:solidFill>
                  <a:srgbClr val="000000"/>
                </a:solidFill>
                <a:ea typeface="Heebo Regular"/>
              </a:rPr>
              <a:t>극대화함</a:t>
            </a:r>
            <a:r>
              <a:rPr lang="en-US" sz="2266" b="false" i="false" u="none" strike="noStrike" spc="-23">
                <a:solidFill>
                  <a:srgbClr val="000000"/>
                </a:solidFill>
                <a:latin typeface="Heebo Regular"/>
              </a:rPr>
              <a:t>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20600" y="8788400"/>
            <a:ext cx="10464800" cy="596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3333" b="true" i="false" u="none" strike="noStrike">
                <a:solidFill>
                  <a:srgbClr val="00194F"/>
                </a:solidFill>
                <a:latin typeface="Heebo Regular"/>
              </a:rPr>
              <a:t>Strong Reward Shaping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p.11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463800" y="2082800"/>
            <a:ext cx="215392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04. Reinforcement Learning Algorithm
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24400" y="4089400"/>
            <a:ext cx="15748000" cy="660400"/>
          </a:xfrm>
          <a:prstGeom prst="rect">
            <a:avLst/>
          </a:prstGeom>
        </p:spPr>
        <p:txBody>
          <a:bodyPr anchor="b" rtlCol="false" lIns="0" tIns="0" rIns="0" bIns="47413"/>
          <a:lstStyle/>
          <a:p>
            <a:pPr algn="ctr" lvl="0">
              <a:lnSpc>
                <a:spcPct val="99600"/>
              </a:lnSpc>
            </a:pPr>
            <a:r>
              <a:rPr lang="en" sz="3733" b="true" i="false" u="none" strike="noStrike">
                <a:solidFill>
                  <a:srgbClr val="000000"/>
                </a:solidFill>
                <a:latin typeface="Lexend Regular"/>
              </a:rPr>
              <a:t>RL Arichitecture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55900" y="5334000"/>
            <a:ext cx="6184900" cy="660400"/>
          </a:xfrm>
          <a:prstGeom prst="rect">
            <a:avLst/>
          </a:prstGeom>
        </p:spPr>
        <p:txBody>
          <a:bodyPr anchor="b" rtlCol="false"/>
          <a:lstStyle/>
          <a:p>
            <a:pPr algn="l" lvl="0">
              <a:lnSpc>
                <a:spcPct val="129479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Bold"/>
              </a:rPr>
              <a:t>State Representation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55900" y="6070600"/>
            <a:ext cx="6159500" cy="49657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l" lvl="0">
              <a:lnSpc>
                <a:spcPct val="107899"/>
              </a:lnSpc>
            </a:pP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상태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(s_t)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다음으로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정의된다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:</a:t>
            </a:r>
          </a:p>
          <a:p>
            <a:pPr algn="l" lvl="0">
              <a:lnSpc>
                <a:spcPct val="1078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현재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시점에서의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latent vector</a:t>
            </a:r>
          </a:p>
          <a:p>
            <a:pPr algn="l" lvl="0">
              <a:lnSpc>
                <a:spcPct val="107899"/>
              </a:lnSpc>
            </a:pPr>
            <a:br>
              <a:rPr/>
            </a:b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07899"/>
              </a:lnSpc>
            </a:pPr>
            <a:br>
              <a:rPr/>
            </a:b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이는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Autoencoder Encoder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deterministic μ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사용하며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,
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각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latent vector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해당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window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dynamics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압축적으로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표현한다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88500" y="5334000"/>
            <a:ext cx="5486400" cy="660400"/>
          </a:xfrm>
          <a:prstGeom prst="rect">
            <a:avLst/>
          </a:prstGeom>
        </p:spPr>
        <p:txBody>
          <a:bodyPr anchor="b" rtlCol="false"/>
          <a:lstStyle/>
          <a:p>
            <a:pPr algn="l" lvl="0">
              <a:lnSpc>
                <a:spcPct val="129479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Bold"/>
              </a:rPr>
              <a:t>Action Representation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88500" y="6070600"/>
            <a:ext cx="6413500" cy="73914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l" lvl="0">
              <a:lnSpc>
                <a:spcPct val="1078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latent space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에서의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"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다음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latent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로의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이동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방향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"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직접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제어한다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  <a:p>
            <a:pPr algn="l" lvl="0">
              <a:lnSpc>
                <a:spcPct val="1078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행동은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다음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방식으로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적용된다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:</a:t>
            </a:r>
          </a:p>
          <a:p>
            <a:pPr algn="l" lvl="0">
              <a:lnSpc>
                <a:spcPct val="1078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단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,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안정성을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위해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다음이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적용된다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: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>tanh-squashed action (action_scale=0.03)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>z-norm clipping (‖z‖ ≤ 3)</a:t>
            </a:r>
          </a:p>
          <a:p>
            <a:pPr algn="l" lvl="0">
              <a:lnSpc>
                <a:spcPct val="1078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21100" y="5511800"/>
            <a:ext cx="4330700" cy="482600"/>
          </a:xfrm>
          <a:prstGeom prst="rect">
            <a:avLst/>
          </a:prstGeom>
        </p:spPr>
        <p:txBody>
          <a:bodyPr anchor="b" rtlCol="false"/>
          <a:lstStyle/>
          <a:p>
            <a:pPr algn="l" lvl="0">
              <a:lnSpc>
                <a:spcPct val="129479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Bold"/>
              </a:rPr>
              <a:t>Transition Function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21100" y="6070600"/>
            <a:ext cx="6159500" cy="35179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l" lvl="0">
              <a:lnSpc>
                <a:spcPct val="107899"/>
              </a:lnSpc>
            </a:pP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환경은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deterministic:</a:t>
            </a:r>
          </a:p>
          <a:p>
            <a:pPr algn="l" lvl="0">
              <a:lnSpc>
                <a:spcPct val="1078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즉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, RL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dynamics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실제로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모델링하는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것이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아니라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teacher dynamics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imitation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한다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076700" y="7823200"/>
            <a:ext cx="2247900" cy="990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426700" y="6400800"/>
            <a:ext cx="3530600" cy="901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706100" y="9588500"/>
            <a:ext cx="3810000" cy="965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005300" y="6692900"/>
            <a:ext cx="3594100" cy="1130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p.12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463800" y="2082800"/>
            <a:ext cx="215392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04. Reinforcement Learning Algorithm
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320000" y="965200"/>
            <a:ext cx="1612900" cy="4318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p.13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00600" y="4089400"/>
            <a:ext cx="15748000" cy="660400"/>
          </a:xfrm>
          <a:prstGeom prst="rect">
            <a:avLst/>
          </a:prstGeom>
        </p:spPr>
        <p:txBody>
          <a:bodyPr anchor="b" rtlCol="false" lIns="0" tIns="0" rIns="0" bIns="47413"/>
          <a:lstStyle/>
          <a:p>
            <a:pPr algn="l" lvl="0">
              <a:lnSpc>
                <a:spcPct val="99600"/>
              </a:lnSpc>
            </a:pPr>
            <a:r>
              <a:rPr lang="en-US" sz="3733" b="false" i="false" u="none" strike="noStrike">
                <a:solidFill>
                  <a:srgbClr val="000000"/>
                </a:solidFill>
                <a:latin typeface="Lexend Regular"/>
              </a:rPr>
              <a:t>Reward </a:t>
            </a:r>
            <a:r>
              <a:rPr lang="ko-KR" sz="3733" b="false" i="false" u="none" strike="noStrike">
                <a:solidFill>
                  <a:srgbClr val="000000"/>
                </a:solidFill>
                <a:ea typeface="Lexend Regular"/>
              </a:rPr>
              <a:t>설계</a:t>
            </a:r>
            <a:r>
              <a:rPr lang="en-US" sz="3733" b="false" i="false" u="none" strike="noStrike">
                <a:solidFill>
                  <a:srgbClr val="000000"/>
                </a:solidFill>
                <a:latin typeface="Lexend Regular"/>
              </a:rPr>
              <a:t> : 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4300" y="4965700"/>
            <a:ext cx="2476500" cy="622300"/>
          </a:xfrm>
          <a:prstGeom prst="rect">
            <a:avLst/>
          </a:prstGeom>
        </p:spPr>
        <p:txBody>
          <a:bodyPr anchor="t" rtlCol="false" lIns="0" tIns="44026" rIns="0" bIns="0"/>
          <a:lstStyle/>
          <a:p>
            <a:pPr algn="l" lvl="0">
              <a:lnSpc>
                <a:spcPct val="99600"/>
              </a:lnSpc>
            </a:pPr>
            <a:r>
              <a:rPr lang="en" sz="3466" b="false" i="false" u="none" strike="noStrike">
                <a:solidFill>
                  <a:srgbClr val="787878"/>
                </a:solidFill>
                <a:latin typeface="Heebo Regular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4300" y="5816600"/>
            <a:ext cx="5842000" cy="660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5329"/>
              </a:lnSpc>
            </a:pPr>
            <a:r>
              <a:rPr lang="en" sz="3733" b="true" i="false" u="none" strike="noStrike">
                <a:solidFill>
                  <a:srgbClr val="595959"/>
                </a:solidFill>
                <a:latin typeface="Heebo Regular"/>
              </a:rPr>
              <a:t>Teacher latent distance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25900" y="4965700"/>
            <a:ext cx="2476500" cy="622300"/>
          </a:xfrm>
          <a:prstGeom prst="rect">
            <a:avLst/>
          </a:prstGeom>
        </p:spPr>
        <p:txBody>
          <a:bodyPr anchor="t" rtlCol="false" lIns="0" tIns="44026" rIns="0" bIns="0"/>
          <a:lstStyle/>
          <a:p>
            <a:pPr algn="l" lvl="0">
              <a:lnSpc>
                <a:spcPct val="99600"/>
              </a:lnSpc>
            </a:pPr>
            <a:r>
              <a:rPr lang="en" sz="3466" b="false" i="false" u="none" strike="noStrike">
                <a:solidFill>
                  <a:srgbClr val="787878"/>
                </a:solidFill>
                <a:latin typeface="Heebo Regular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25900" y="5816600"/>
            <a:ext cx="5842000" cy="660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5329"/>
              </a:lnSpc>
            </a:pPr>
            <a:r>
              <a:rPr lang="en" sz="3733" b="true" i="false" u="none" strike="noStrike">
                <a:solidFill>
                  <a:srgbClr val="595959"/>
                </a:solidFill>
                <a:latin typeface="Heebo Regular"/>
              </a:rPr>
              <a:t>Direction Matching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25900" y="7607300"/>
            <a:ext cx="7759700" cy="889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5329"/>
              </a:lnSpc>
            </a:pPr>
            <a:r>
              <a:rPr lang="ko-KR" sz="2400" b="false" i="false" u="none" strike="noStrike">
                <a:solidFill>
                  <a:srgbClr val="595959"/>
                </a:solidFill>
                <a:ea typeface="Heebo Regular"/>
              </a:rPr>
              <a:t>단순히</a:t>
            </a:r>
            <a:r>
              <a:rPr lang="en-US" sz="2400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Heebo Regular"/>
              </a:rPr>
              <a:t>위치만</a:t>
            </a:r>
            <a:r>
              <a:rPr lang="en-US" sz="2400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Heebo Regular"/>
              </a:rPr>
              <a:t>맞추는</a:t>
            </a:r>
            <a:r>
              <a:rPr lang="en-US" sz="2400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Heebo Regular"/>
              </a:rPr>
              <a:t>것이</a:t>
            </a:r>
            <a:r>
              <a:rPr lang="en-US" sz="2400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Heebo Regular"/>
              </a:rPr>
              <a:t>아니라</a:t>
            </a:r>
            <a:r>
              <a:rPr lang="en-US" sz="2400" b="false" i="false" u="none" strike="noStrike">
                <a:solidFill>
                  <a:srgbClr val="595959"/>
                </a:solidFill>
                <a:latin typeface="Heebo Regular"/>
              </a:rPr>
              <a:t>
teacher trajectory</a:t>
            </a:r>
            <a:r>
              <a:rPr lang="ko-KR" sz="2400" b="false" i="false" u="none" strike="noStrike">
                <a:solidFill>
                  <a:srgbClr val="595959"/>
                </a:solidFill>
                <a:ea typeface="Heebo Regular"/>
              </a:rPr>
              <a:t>의</a:t>
            </a:r>
            <a:r>
              <a:rPr lang="en-US" sz="2400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Heebo Regular"/>
              </a:rPr>
              <a:t>이동</a:t>
            </a:r>
            <a:r>
              <a:rPr lang="en-US" sz="2400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Heebo Regular"/>
              </a:rPr>
              <a:t>방향까지</a:t>
            </a:r>
            <a:r>
              <a:rPr lang="en-US" sz="2400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Heebo Regular"/>
              </a:rPr>
              <a:t>모방하도록</a:t>
            </a:r>
            <a:r>
              <a:rPr lang="en-US" sz="2400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2400" b="false" i="false" u="none" strike="noStrike">
                <a:solidFill>
                  <a:srgbClr val="595959"/>
                </a:solidFill>
                <a:ea typeface="Heebo Regular"/>
              </a:rPr>
              <a:t>유도한다</a:t>
            </a:r>
            <a:r>
              <a:rPr lang="en-US" sz="2400" b="false" i="false" u="none" strike="noStrike">
                <a:solidFill>
                  <a:srgbClr val="595959"/>
                </a:solidFill>
                <a:latin typeface="Heebo Regular"/>
              </a:rPr>
              <a:t>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55100" y="4965700"/>
            <a:ext cx="2476500" cy="622300"/>
          </a:xfrm>
          <a:prstGeom prst="rect">
            <a:avLst/>
          </a:prstGeom>
        </p:spPr>
        <p:txBody>
          <a:bodyPr anchor="t" rtlCol="false" lIns="0" tIns="44026" rIns="0" bIns="0"/>
          <a:lstStyle/>
          <a:p>
            <a:pPr algn="l" lvl="0">
              <a:lnSpc>
                <a:spcPct val="99600"/>
              </a:lnSpc>
            </a:pPr>
            <a:r>
              <a:rPr lang="en" sz="3466" b="false" i="false" u="none" strike="noStrike">
                <a:solidFill>
                  <a:srgbClr val="787878"/>
                </a:solidFill>
                <a:latin typeface="Heebo Regular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55100" y="5816600"/>
            <a:ext cx="5842000" cy="660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5329"/>
              </a:lnSpc>
            </a:pPr>
            <a:r>
              <a:rPr lang="en" sz="3733" b="true" i="false" u="none" strike="noStrike">
                <a:solidFill>
                  <a:srgbClr val="595959"/>
                </a:solidFill>
                <a:latin typeface="Heebo Regular"/>
              </a:rPr>
              <a:t>Reconstruction Quality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0800000">
            <a:off x="1358900" y="8763000"/>
            <a:ext cx="6337300" cy="254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384300" y="9144000"/>
            <a:ext cx="2476500" cy="622300"/>
          </a:xfrm>
          <a:prstGeom prst="rect">
            <a:avLst/>
          </a:prstGeom>
        </p:spPr>
        <p:txBody>
          <a:bodyPr anchor="t" rtlCol="false" lIns="0" tIns="44026" rIns="0" bIns="0"/>
          <a:lstStyle/>
          <a:p>
            <a:pPr algn="l" lvl="0">
              <a:lnSpc>
                <a:spcPct val="99600"/>
              </a:lnSpc>
            </a:pPr>
            <a:r>
              <a:rPr lang="en" sz="3466" b="false" i="false" u="none" strike="noStrike">
                <a:solidFill>
                  <a:srgbClr val="787878"/>
                </a:solidFill>
                <a:latin typeface="Heebo Regular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4300" y="9994900"/>
            <a:ext cx="5842000" cy="660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5329"/>
              </a:lnSpc>
            </a:pPr>
            <a:r>
              <a:rPr lang="en" sz="3733" b="true" i="false" u="none" strike="noStrike">
                <a:solidFill>
                  <a:srgbClr val="595959"/>
                </a:solidFill>
                <a:latin typeface="Heebo Regular"/>
              </a:rPr>
              <a:t>Smoothness Penalty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4300" y="11938000"/>
            <a:ext cx="6172200" cy="1130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5329"/>
              </a:lnSpc>
            </a:pP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→ Forecasting 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모델이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흔들리지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않도록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안정성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확보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16700500" y="8763000"/>
            <a:ext cx="6324600" cy="25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6827500" y="9207500"/>
            <a:ext cx="5842000" cy="660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5329"/>
              </a:lnSpc>
            </a:pPr>
            <a:r>
              <a:rPr lang="en" sz="3733" b="true" i="false" u="none" strike="noStrike">
                <a:solidFill>
                  <a:srgbClr val="595959"/>
                </a:solidFill>
                <a:latin typeface="Heebo Regular"/>
              </a:rPr>
              <a:t>(initial) Reward weight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725900" y="10185400"/>
            <a:ext cx="6172200" cy="28956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5329"/>
              </a:lnSpc>
              <a:buClr>
                <a:srgbClr val="000000"/>
              </a:buClr>
              <a:buFont typeface="Arial"/>
              <a:buChar char="●"/>
            </a:pPr>
            <a:r>
              <a:rPr lang="en" sz="3066" b="false" i="false" u="none" strike="noStrike">
                <a:solidFill>
                  <a:srgbClr val="595959"/>
                </a:solidFill>
                <a:latin typeface="Heebo Regular"/>
              </a:rPr>
              <a:t>latent = 20</a:t>
            </a:r>
          </a:p>
          <a:p>
            <a:pPr algn="l" lvl="1" indent="-342900" marL="342900">
              <a:lnSpc>
                <a:spcPct val="125329"/>
              </a:lnSpc>
              <a:buClr>
                <a:srgbClr val="000000"/>
              </a:buClr>
              <a:buFont typeface="Arial"/>
              <a:buChar char="●"/>
            </a:pPr>
            <a:r>
              <a:rPr lang="en" sz="3066" b="false" i="false" u="none" strike="noStrike">
                <a:solidFill>
                  <a:srgbClr val="595959"/>
                </a:solidFill>
                <a:latin typeface="Heebo Regular"/>
              </a:rPr>
              <a:t>recon = 10</a:t>
            </a:r>
          </a:p>
          <a:p>
            <a:pPr algn="l" lvl="1" indent="-342900" marL="342900">
              <a:lnSpc>
                <a:spcPct val="125329"/>
              </a:lnSpc>
              <a:buClr>
                <a:srgbClr val="000000"/>
              </a:buClr>
              <a:buFont typeface="Arial"/>
              <a:buChar char="●"/>
            </a:pPr>
            <a:r>
              <a:rPr lang="en" sz="3066" b="false" i="false" u="none" strike="noStrike">
                <a:solidFill>
                  <a:srgbClr val="595959"/>
                </a:solidFill>
                <a:latin typeface="Heebo Regular"/>
              </a:rPr>
              <a:t>direction = 5</a:t>
            </a:r>
          </a:p>
          <a:p>
            <a:pPr algn="l" lvl="1" indent="-342900" marL="342900">
              <a:lnSpc>
                <a:spcPct val="125329"/>
              </a:lnSpc>
              <a:buClr>
                <a:srgbClr val="000000"/>
              </a:buClr>
              <a:buFont typeface="Arial"/>
              <a:buChar char="●"/>
            </a:pPr>
            <a:r>
              <a:rPr lang="en" sz="3066" b="false" i="false" u="none" strike="noStrike">
                <a:solidFill>
                  <a:srgbClr val="595959"/>
                </a:solidFill>
                <a:latin typeface="Heebo Regular"/>
              </a:rPr>
              <a:t>smoothness = 3</a:t>
            </a:r>
          </a:p>
          <a:p>
            <a:pPr algn="l" lvl="1" indent="-342900" marL="342900">
              <a:lnSpc>
                <a:spcPct val="125329"/>
              </a:lnSpc>
              <a:buClr>
                <a:srgbClr val="000000"/>
              </a:buClr>
              <a:buFont typeface="Arial"/>
              <a:buChar char="●"/>
            </a:pPr>
            <a:r>
              <a:rPr lang="en" sz="3066" b="false" i="false" u="none" strike="noStrike">
                <a:solidFill>
                  <a:srgbClr val="595959"/>
                </a:solidFill>
                <a:latin typeface="Heebo Regular"/>
              </a:rPr>
              <a:t>final_bonus = 30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9029700" y="8763000"/>
            <a:ext cx="6324600" cy="254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9055100" y="9144000"/>
            <a:ext cx="2476500" cy="622300"/>
          </a:xfrm>
          <a:prstGeom prst="rect">
            <a:avLst/>
          </a:prstGeom>
        </p:spPr>
        <p:txBody>
          <a:bodyPr anchor="t" rtlCol="false" lIns="0" tIns="44026" rIns="0" bIns="0"/>
          <a:lstStyle/>
          <a:p>
            <a:pPr algn="l" lvl="0">
              <a:lnSpc>
                <a:spcPct val="99600"/>
              </a:lnSpc>
            </a:pPr>
            <a:r>
              <a:rPr lang="en" sz="3466" b="false" i="false" u="none" strike="noStrike">
                <a:solidFill>
                  <a:srgbClr val="787878"/>
                </a:solidFill>
                <a:latin typeface="Heebo Regular"/>
              </a:rPr>
              <a:t>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055100" y="9994900"/>
            <a:ext cx="5842000" cy="660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5329"/>
              </a:lnSpc>
            </a:pPr>
            <a:r>
              <a:rPr lang="en" sz="3733" b="true" i="false" u="none" strike="noStrike">
                <a:solidFill>
                  <a:srgbClr val="595959"/>
                </a:solidFill>
                <a:latin typeface="Heebo Regular"/>
              </a:rPr>
              <a:t>Final Bonus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055100" y="10871200"/>
            <a:ext cx="6172200" cy="2311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5329"/>
              </a:lnSpc>
            </a:pP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마지막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step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에서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teacher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와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매우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근접하면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큰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보상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부여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.
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이는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global trajectory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를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정확히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재현하도록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하는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curriculum signal.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58900" y="6680200"/>
            <a:ext cx="5486400" cy="9906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270000" y="7747000"/>
            <a:ext cx="6172200" cy="546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5329"/>
              </a:lnSpc>
            </a:pP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Teacher latent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와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가까울수록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보상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↑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055100" y="7874000"/>
            <a:ext cx="6946900" cy="546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5329"/>
              </a:lnSpc>
            </a:pP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Decoder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는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실제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window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를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재현해야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 </a:t>
            </a:r>
            <a:r>
              <a:rPr lang="ko-KR" sz="3066" b="false" i="false" u="none" strike="noStrike">
                <a:solidFill>
                  <a:srgbClr val="595959"/>
                </a:solidFill>
                <a:ea typeface="Heebo Regular"/>
              </a:rPr>
              <a:t>함</a:t>
            </a:r>
            <a:r>
              <a:rPr lang="en-US" sz="3066" b="false" i="false" u="none" strike="noStrike">
                <a:solidFill>
                  <a:srgbClr val="595959"/>
                </a:solidFill>
                <a:latin typeface="Heebo Regular"/>
              </a:rPr>
              <a:t>.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851900" y="6756400"/>
            <a:ext cx="6451600" cy="6477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941800" y="6515100"/>
            <a:ext cx="5486400" cy="952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70000" y="10871200"/>
            <a:ext cx="5486400" cy="8509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759700" y="3835400"/>
            <a:ext cx="10604500" cy="914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p.15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750300" y="7188200"/>
            <a:ext cx="6769100" cy="50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336800" y="3784600"/>
            <a:ext cx="9410700" cy="7112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>Encoder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93700" y="3784600"/>
            <a:ext cx="8953500" cy="7112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>Decoder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27300" y="4495800"/>
            <a:ext cx="9105900" cy="8026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1760" b="true" i="false" u="none" strike="noStrike">
                <a:solidFill>
                  <a:srgbClr val="000000"/>
                </a:solidFill>
                <a:latin typeface="Heebo ExtraLight"/>
              </a:rPr>
              <a:t>    Input: X ∈ ℝ^96 (window_size)
    Architecture:
    ┌─────────────────────────────────────┐
    │ Linear(96 → 128)                    │
    │ LayerNorm(128)                      │
    │ ReLU                                │
    │ Dropout(0.3)                        │
    ├─────────────────────────────────────┤
    │ Linear(128 → 128)                   │
    │ LayerNorm(128)                      │
    │ ReLU                                │
    │ Dropout(0.3)                        │
    ├─────────────────────────────────────┤
    │ ┌──────────────┬──────────────┐    │
    │ │ fc_mu        │ fc_logvar    │    │
    │ │ (128 → 32)   │ (128 → 32)   │    │
    │ └──────────────┴──────────────┘    │
    └─────────────────────────────────────┘
    Output: 
    - μ ∈ ℝ^32 (mean)
    - log σ² ∈ ℝ^32 (log variance)
    - z = μ + σ ⊙ ε, where ε ~ N(0, I)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36600" y="4597400"/>
            <a:ext cx="9105900" cy="8686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1760" b="true" i="false" u="none" strike="noStrike">
                <a:solidFill>
                  <a:srgbClr val="000000"/>
                </a:solidFill>
                <a:latin typeface="Heebo ExtraLight"/>
              </a:rPr>
              <a:t>    Input: z ∈ ℝ^32 (latent vector)
    Architecture:
    ┌─────────────────────────────────────┐
    │ Linear(32 → 128)                    │
    │ LayerNorm(128)                      │
    │ ReLU                                │
    │ Dropout(0.3)                        │
    ├─────────────────────────────────────┤
    │ Linear(128 → 128)                   │
    │ LayerNorm(128)                      │
    │ ReLU                                │
    │ Dropout(0.3)                        │
    ├─────────────────────────────────────┤
    │ Linear(128 → 96)                    │
    │ x' = x · scale + shift              │
    └─────────────────────────────────────┘
    Output: X_recon ∈ ℝ^96
Loss Function:
L_VAE = L_recon + β · L_KL
where:
L_recon = MSE(X, X_recon)
L_KL = -0.5 * Σ(1 + log σ² - μ² - σ²)
β = 0.01 (KL weight)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63800" y="2082800"/>
            <a:ext cx="23634700" cy="2438400"/>
          </a:xfrm>
          <a:prstGeom prst="rect">
            <a:avLst/>
          </a:prstGeom>
        </p:spPr>
        <p:txBody>
          <a:bodyPr anchor="t" rtlCol="false" lIns="0" tIns="203200" rIns="0" bIns="0"/>
          <a:lstStyle/>
          <a:p>
            <a:pPr algn="l" lvl="0">
              <a:lnSpc>
                <a:spcPct val="83000"/>
              </a:lnSpc>
            </a:pPr>
            <a:r>
              <a:rPr lang="en" sz="8000" b="false" i="false" u="none" strike="noStrike" spc="-400">
                <a:solidFill>
                  <a:srgbClr val="000000"/>
                </a:solidFill>
                <a:latin typeface="Lexend Bold"/>
              </a:rPr>
              <a:t>05. Model Arichtecture &amp; Hyperparameters
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3800" y="2082800"/>
            <a:ext cx="23634700" cy="2438400"/>
          </a:xfrm>
          <a:prstGeom prst="rect">
            <a:avLst/>
          </a:prstGeom>
        </p:spPr>
        <p:txBody>
          <a:bodyPr anchor="t" rtlCol="false" lIns="0" tIns="203200" rIns="0" bIns="0"/>
          <a:lstStyle/>
          <a:p>
            <a:pPr algn="l" lvl="0">
              <a:lnSpc>
                <a:spcPct val="83000"/>
              </a:lnSpc>
            </a:pPr>
            <a:r>
              <a:rPr lang="en" sz="8000" b="false" i="false" u="none" strike="noStrike" spc="-400">
                <a:solidFill>
                  <a:srgbClr val="000000"/>
                </a:solidFill>
                <a:latin typeface="Lexend Bold"/>
              </a:rPr>
              <a:t>05. Model Arichtecture &amp; Hyperparameters
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p.16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7480300" y="3695700"/>
            <a:ext cx="9410700" cy="8255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>Hyperparameters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166100" y="5232400"/>
          <a:ext cx="8064500" cy="5816600"/>
        </p:xfrm>
        <a:graphic>
          <a:graphicData uri="http://schemas.openxmlformats.org/drawingml/2006/table">
            <a:tbl>
              <a:tblPr/>
              <a:tblGrid>
                <a:gridCol w="3212962"/>
                <a:gridCol w="1719187"/>
                <a:gridCol w="3128805"/>
              </a:tblGrid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Parameter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Value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Description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5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window_size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96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Input sequence length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latent_dim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32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Latent vector dimension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hidden_dim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128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Hidden layer size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dropout_rate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0.3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Dropout probability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kl_weight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0.01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β in VAE loss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learning_rate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1e-3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Adam optimizer LR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batch_size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64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Training batch size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epochs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100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Pre-training epochs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463800" y="2082800"/>
            <a:ext cx="23634700" cy="2438400"/>
          </a:xfrm>
          <a:prstGeom prst="rect">
            <a:avLst/>
          </a:prstGeom>
        </p:spPr>
        <p:txBody>
          <a:bodyPr anchor="t" rtlCol="false" lIns="0" tIns="203200" rIns="0" bIns="0"/>
          <a:lstStyle/>
          <a:p>
            <a:pPr algn="l" lvl="0">
              <a:lnSpc>
                <a:spcPct val="83000"/>
              </a:lnSpc>
            </a:pPr>
            <a:r>
              <a:rPr lang="en" sz="8000" b="false" i="false" u="none" strike="noStrike" spc="-400">
                <a:solidFill>
                  <a:srgbClr val="000000"/>
                </a:solidFill>
                <a:latin typeface="Lexend Bold"/>
              </a:rPr>
              <a:t>05. Model Arichtecture &amp; Hyperparameters
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p.16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7480300" y="3975100"/>
            <a:ext cx="9410700" cy="7366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>Method 1: Supervised Pre-training + SAC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7000" y="6261100"/>
            <a:ext cx="6883400" cy="64516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핵심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아이디어</a:t>
            </a:r>
            <a:b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</a:br>
            <a:r>
              <a:rPr lang="en" sz="2000" b="tru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1">
              <a:lnSpc>
                <a:spcPct val="124499"/>
              </a:lnSpc>
            </a:pP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처음엔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teacher trajectory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의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Δz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를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모방하는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supervised pre-training</a:t>
            </a:r>
          </a:p>
          <a:p>
            <a:pPr algn="l" lvl="1">
              <a:lnSpc>
                <a:spcPct val="124499"/>
              </a:lnSpc>
            </a:pP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그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후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Soft Actor-Critic(SAC)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으로</a:t>
            </a:r>
          </a:p>
          <a:p>
            <a:pPr algn="l" lvl="2">
              <a:lnSpc>
                <a:spcPct val="124499"/>
              </a:lnSpc>
            </a:pP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reward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기반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개선</a:t>
            </a:r>
          </a:p>
          <a:p>
            <a:pPr algn="l" lvl="2">
              <a:lnSpc>
                <a:spcPct val="124499"/>
              </a:lnSpc>
            </a:pP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exploration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포함</a:t>
            </a:r>
          </a:p>
          <a:p>
            <a:pPr algn="l" lvl="2">
              <a:lnSpc>
                <a:spcPct val="124499"/>
              </a:lnSpc>
            </a:pP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stochastic policy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최적화를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수행하는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full reinforcement learning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방식</a:t>
            </a:r>
            <a:b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</a:br>
            <a:r>
              <a:rPr lang="en" sz="2000" b="tru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24499"/>
              </a:lnSpc>
            </a:pPr>
            <a:r>
              <a:rPr lang="en" sz="2000" b="true" i="false" u="none" strike="noStrike">
                <a:solidFill>
                  <a:srgbClr val="000000"/>
                </a:solidFill>
                <a:ea typeface="Heebo ExtraLight"/>
              </a:rPr>
              <a:t>특징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정책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(policy) +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가치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(value function)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모두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학습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entropy(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탐험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)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보장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→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새로운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패턴에도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적응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가능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reward shaping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효과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반영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가능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latent dynamics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를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점진적으로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더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잘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따라가게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됨</a:t>
            </a:r>
            <a:b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</a:b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최종적으로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latent space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에서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가장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안정적이고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robust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한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agent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생성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가능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36000" y="6032500"/>
            <a:ext cx="6858000" cy="5575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1333" b="true" i="false" u="none" strike="noStrike">
                <a:solidFill>
                  <a:srgbClr val="000000"/>
                </a:solidFill>
                <a:latin typeface="Heebo ExtraLight"/>
              </a:rPr>
              <a:t>class Actor(nn.Module):
    Input: s_t = z_t ∈ ℝ^32 (state = latent vector)
    Architecture:
    ┌─────────────────────────────────────┐
    │ Linear(32 → 256)                    │
    │ LayerNorm(256)                      │
    │ ReLU                                │
    ├─────────────────────────────────────┤
    │ Linear(256 → 256)                   │
    │ LayerNorm(256)                      │
    │ ReLU                                │
    ├─────────────────────────────────────┤
    │ ┌──────────────┬──────────────┐    │
    │ │ mean         │ log_std      │    │
    │ │ (256 → 32)   │ (256 → 32)   │    │
    │ └──────────────┴──────────────┘    │
    │                                     │
    │ a_t = tanh(μ + σ ⊙ ε) · scale      │
    └─────────────────────────────────────┘
    Output: a_t = Δz ∈ ℝ^32 (action = latent delta)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2000" y="5384800"/>
            <a:ext cx="6223000" cy="647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ctr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FFFFFF"/>
                </a:solidFill>
                <a:highlight>
                  <a:srgbClr val="FD9F28"/>
                </a:highlight>
                <a:latin typeface="Lexend SemiBold"/>
              </a:rPr>
              <a:t>IDea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549900" y="8420100"/>
            <a:ext cx="5918200" cy="50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598400" y="8420100"/>
            <a:ext cx="5918200" cy="508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8915400" y="5384800"/>
            <a:ext cx="6565900" cy="647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ctr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FFFFFF"/>
                </a:solidFill>
                <a:highlight>
                  <a:srgbClr val="FD9F28"/>
                </a:highlight>
                <a:latin typeface="Lexend SemiBold"/>
              </a:rPr>
              <a:t>Actor network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00300" y="5384800"/>
            <a:ext cx="7823200" cy="647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ctr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FFFFFF"/>
                </a:solidFill>
                <a:highlight>
                  <a:srgbClr val="FD9F28"/>
                </a:highlight>
                <a:latin typeface="Lexend SemiBold"/>
              </a:rPr>
              <a:t>Critic network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230600" y="6210300"/>
            <a:ext cx="6692900" cy="4533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1333" b="true" i="false" u="none" strike="noStrike">
                <a:solidFill>
                  <a:srgbClr val="000000"/>
                </a:solidFill>
                <a:latin typeface="Heebo ExtraLight"/>
              </a:rPr>
              <a:t>class Critic(nn.Module):
    Input: [s_t, a_t] ∈ ℝ^64 (state-action pair)
    Architecture (Q1 and Q2):
    ┌─────────────────────────────────────┐
    │ Linear(64 → 256)                    │
    │ LayerNorm(256)                      │
    │ ReLU                                │
    ├─────────────────────────────────────┤
    │ Linear(256 → 256)                   │
    │ LayerNorm(256)                      │
    │ ReLU                                │
    ├─────────────────────────────────────┤
    │ Linear(256 → 1)                     │
    └─────────────────────────────────────┘
    Output: Q(s, a) ∈ ℝ (action value)
`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p.17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7480300" y="3975100"/>
            <a:ext cx="9410700" cy="7366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>Method 1: Supervised Pre-training + SAC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05100" y="5778500"/>
            <a:ext cx="6883400" cy="6807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000" b="true" i="false" u="none" strike="noStrike">
                <a:solidFill>
                  <a:srgbClr val="000000"/>
                </a:solidFill>
                <a:latin typeface="Heebo ExtraLight"/>
              </a:rPr>
              <a:t>Soft Actor-Critic (Haarnoja et al., 2018)
Objective:
J(π) = E[Σ γ^t (r_t + α H(π(·|s_t)))]
where:
- γ = 0.99 (discount factor)
- α = 0.05 (temperature parameter, auto-tuned)
- H(π) = -log π(a|s) (entropy)
Update Rules:
1. Critic: minimize L_Q = E[(Q(s,a) - y)²]
   where y = r + γ(min(Q'₁, Q'₂) - α log π(a'|s'))
2. Actor: maximize J_π = E[min(Q₁, Q₂) - α log π(a|s)]
3. Temperature: minimize J_α = E[-α(log π + H_target)]
   where H_target = -dim(A) * 0.5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70100" y="4711700"/>
            <a:ext cx="6223000" cy="520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ctr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FFFFFF"/>
                </a:solidFill>
                <a:highlight>
                  <a:srgbClr val="FD9F28"/>
                </a:highlight>
                <a:latin typeface="Lexend SemiBold"/>
              </a:rPr>
              <a:t>SAC algorithm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207500" y="8966200"/>
            <a:ext cx="5918200" cy="50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4541500" y="4622800"/>
            <a:ext cx="7823200" cy="5969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ctr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FFFFFF"/>
                </a:solidFill>
                <a:highlight>
                  <a:srgbClr val="FD9F28"/>
                </a:highlight>
                <a:latin typeface="Lexend SemiBold"/>
              </a:rPr>
              <a:t>HYPERPARAMETERS</a:t>
            </a:r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15405100" y="5384800"/>
          <a:ext cx="6108700" cy="7962900"/>
        </p:xfrm>
        <a:graphic>
          <a:graphicData uri="http://schemas.openxmlformats.org/drawingml/2006/table">
            <a:tbl>
              <a:tblPr/>
              <a:tblGrid>
                <a:gridCol w="1802497"/>
                <a:gridCol w="1351927"/>
                <a:gridCol w="2949183"/>
              </a:tblGrid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Parameter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Value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Description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C5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actor_hidden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256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Actor network hidden size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critic_hidden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256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Critic network hidden size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action_scale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0.1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Max action magnitude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learning_rate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1e-3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Adam optimizer LR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gamma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0.99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Discount factor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tau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0.005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Soft update coefficient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alpha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0.05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Initial temperature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buffer_size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50,000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Replay buffer capacity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batch_size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256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Training batch size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pretrain_epochs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200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Supervised pre-training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rl_episodes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300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RL fine-tuning episodes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2463800" y="2082800"/>
            <a:ext cx="23634700" cy="2438400"/>
          </a:xfrm>
          <a:prstGeom prst="rect">
            <a:avLst/>
          </a:prstGeom>
        </p:spPr>
        <p:txBody>
          <a:bodyPr anchor="t" rtlCol="false" lIns="0" tIns="203200" rIns="0" bIns="0"/>
          <a:lstStyle/>
          <a:p>
            <a:pPr algn="l" lvl="0">
              <a:lnSpc>
                <a:spcPct val="83000"/>
              </a:lnSpc>
            </a:pPr>
            <a:r>
              <a:rPr lang="en" sz="8000" b="false" i="false" u="none" strike="noStrike" spc="-400">
                <a:solidFill>
                  <a:srgbClr val="000000"/>
                </a:solidFill>
                <a:latin typeface="Lexend Bold"/>
              </a:rPr>
              <a:t>05. Model Arichtecture &amp; Hyperparameters
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p.18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4572000" y="3860800"/>
            <a:ext cx="15227300" cy="5969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>Method 2: Behavioral Cloning (Pure Supervised Learning)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4600" y="6578600"/>
            <a:ext cx="6883400" cy="41656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핵심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아이디어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RL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없음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그냥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teacher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행동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(Δz)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을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그대로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모방하는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supervised learning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" sz="2000" b="true" i="false" u="none" strike="noStrike">
                <a:solidFill>
                  <a:srgbClr val="000000"/>
                </a:solidFill>
                <a:latin typeface="Heebo ExtraLight"/>
              </a:rPr>
              <a:t>loss = MSE(predicted_action, true_delta)</a:t>
            </a:r>
          </a:p>
          <a:p>
            <a:pPr algn="l" lvl="0">
              <a:lnSpc>
                <a:spcPct val="124499"/>
              </a:lnSpc>
            </a:pPr>
            <a:r>
              <a:rPr lang="en" sz="2000" b="tru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24499"/>
              </a:lnSpc>
            </a:pPr>
            <a:r>
              <a:rPr lang="en" sz="2000" b="true" i="false" u="none" strike="noStrike">
                <a:solidFill>
                  <a:srgbClr val="000000"/>
                </a:solidFill>
                <a:ea typeface="Heebo ExtraLight"/>
              </a:rPr>
              <a:t>특징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매우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빠르고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안정적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reward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없음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→ teacher trajectory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만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따라감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exploration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없음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→ generalization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약함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teacher trajectory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와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distribution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이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달라지면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실패하기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쉬움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
SAC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처럼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더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좋은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행동을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찾지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못함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32000" y="5384800"/>
            <a:ext cx="6223000" cy="647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ctr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FFFFFF"/>
                </a:solidFill>
                <a:highlight>
                  <a:srgbClr val="FD9F28"/>
                </a:highlight>
                <a:latin typeface="Lexend SemiBold"/>
              </a:rPr>
              <a:t>IDea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549900" y="8420100"/>
            <a:ext cx="5918200" cy="5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598400" y="8420100"/>
            <a:ext cx="5918200" cy="508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5836900" y="5486400"/>
            <a:ext cx="7823200" cy="647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ctr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FFFFFF"/>
                </a:solidFill>
                <a:highlight>
                  <a:srgbClr val="FD9F28"/>
                </a:highlight>
                <a:latin typeface="Lexend SemiBold"/>
              </a:rPr>
              <a:t>hyperparameters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50300" y="7188200"/>
            <a:ext cx="6743700" cy="2501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666" b="true" i="false" u="none" strike="noStrike">
                <a:solidFill>
                  <a:srgbClr val="000000"/>
                </a:solidFill>
                <a:latin typeface="Heebo ExtraLight"/>
              </a:rPr>
              <a:t>Loss: L_BC = MSE(a_pred, a_target)
where:
a_target = z_{t+1} - z_t (teacher's actual step)
a_pred = π_θ(z_t) (policy's prediction)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80400" y="5384800"/>
            <a:ext cx="7823200" cy="647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ctr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FFFFFF"/>
                </a:solidFill>
                <a:highlight>
                  <a:srgbClr val="FD9F28"/>
                </a:highlight>
                <a:latin typeface="Lexend SemiBold"/>
              </a:rPr>
              <a:t>algorithm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63800" y="2082800"/>
            <a:ext cx="23634700" cy="2438400"/>
          </a:xfrm>
          <a:prstGeom prst="rect">
            <a:avLst/>
          </a:prstGeom>
        </p:spPr>
        <p:txBody>
          <a:bodyPr anchor="t" rtlCol="false" lIns="0" tIns="203200" rIns="0" bIns="0"/>
          <a:lstStyle/>
          <a:p>
            <a:pPr algn="l" lvl="0">
              <a:lnSpc>
                <a:spcPct val="83000"/>
              </a:lnSpc>
            </a:pPr>
            <a:r>
              <a:rPr lang="en" sz="8000" b="false" i="false" u="none" strike="noStrike" spc="-400">
                <a:solidFill>
                  <a:srgbClr val="000000"/>
                </a:solidFill>
                <a:latin typeface="Lexend Bold"/>
              </a:rPr>
              <a:t>05. Model Arichtecture &amp; Hyperparameters
</a:t>
            </a:r>
          </a:p>
        </p:txBody>
      </p: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6230600" y="6858000"/>
          <a:ext cx="7023100" cy="3873500"/>
        </p:xfrm>
        <a:graphic>
          <a:graphicData uri="http://schemas.openxmlformats.org/drawingml/2006/table">
            <a:tbl>
              <a:tblPr/>
              <a:tblGrid>
                <a:gridCol w="2456968"/>
                <a:gridCol w="1365504"/>
                <a:gridCol w="3199163"/>
              </a:tblGrid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Parameter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Value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Description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C5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hidden_dim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256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Network hidden size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action_scale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0.1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Max action magnitude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learning_rate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1e-3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Adam optimizer LR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max_epochs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500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Maximum training epochs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early_stop_patience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30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Early stopping threshold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p.19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7480300" y="3975100"/>
            <a:ext cx="9410700" cy="6731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>comparision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63800" y="2082800"/>
            <a:ext cx="23634700" cy="2438400"/>
          </a:xfrm>
          <a:prstGeom prst="rect">
            <a:avLst/>
          </a:prstGeom>
        </p:spPr>
        <p:txBody>
          <a:bodyPr anchor="t" rtlCol="false" lIns="0" tIns="203200" rIns="0" bIns="0"/>
          <a:lstStyle/>
          <a:p>
            <a:pPr algn="l" lvl="0">
              <a:lnSpc>
                <a:spcPct val="83000"/>
              </a:lnSpc>
            </a:pPr>
            <a:r>
              <a:rPr lang="en" sz="8000" b="false" i="false" u="none" strike="noStrike" spc="-400">
                <a:solidFill>
                  <a:srgbClr val="000000"/>
                </a:solidFill>
                <a:latin typeface="Lexend Bold"/>
              </a:rPr>
              <a:t>05. Model Arichtecture &amp; Hyperparameters
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3048000" y="5245100"/>
          <a:ext cx="18288000" cy="7035800"/>
        </p:xfrm>
        <a:graphic>
          <a:graphicData uri="http://schemas.openxmlformats.org/drawingml/2006/table">
            <a:tbl>
              <a:tblPr/>
              <a:tblGrid>
                <a:gridCol w="3917268"/>
                <a:gridCol w="7573106"/>
                <a:gridCol w="6797626"/>
              </a:tblGrid>
              <a:tr h="100533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283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Aspect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283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Method 1: Supervised + SAC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283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Method 2: Behavioral Cloning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33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283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Approach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283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Two-stage: Pre-train → Fine-tune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283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Single-stage: Direct imitation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33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283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Algorithm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283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Soft Actor-Critic (SAC)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283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Supervised learning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33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283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Complexity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283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High (Actor + 2 Critics + α)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283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Low (Actor only)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33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283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Training Time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283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Longer (~300 episodes)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283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Shorter (~500 epochs)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33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283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Exploration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283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Yes (entropy regularization)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283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No (deterministic)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33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283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Performance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283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Potentially better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283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Good baseline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775700" y="7988300"/>
            <a:ext cx="67691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06. Experiment Setup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p.20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74900" y="4597400"/>
            <a:ext cx="9410700" cy="5969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>Environments setting</a:t>
            </a:r>
            <a:b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</a:br>
          </a:p>
        </p:txBody>
      </p:sp>
      <p:sp>
        <p:nvSpPr>
          <p:cNvPr name="TextBox 8" id="8"/>
          <p:cNvSpPr txBox="true"/>
          <p:nvPr/>
        </p:nvSpPr>
        <p:spPr>
          <a:xfrm rot="0">
            <a:off x="2717800" y="5207000"/>
            <a:ext cx="8839200" cy="8051800"/>
          </a:xfrm>
          <a:prstGeom prst="rect">
            <a:avLst/>
          </a:prstGeom>
        </p:spPr>
        <p:txBody>
          <a:bodyPr anchor="t" rtlCol="false" lIns="0" tIns="16933" rIns="0" bIns="0"/>
          <a:lstStyle/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" sz="2666" b="true" i="false" u="none" strike="noStrike">
                <a:solidFill>
                  <a:srgbClr val="000000"/>
                </a:solidFill>
                <a:latin typeface="Heebo ExtraLight"/>
              </a:rPr>
              <a:t>Hardware</a:t>
            </a:r>
          </a:p>
          <a:p>
            <a:pPr algn="l" lvl="2" indent="-342900" marL="681482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" sz="2666" b="false" i="false" u="none" strike="noStrike">
                <a:solidFill>
                  <a:srgbClr val="000000"/>
                </a:solidFill>
                <a:latin typeface="Heebo ExtraLight"/>
              </a:rPr>
              <a:t>GPU: NVIDIA A100-SXM4-40GB</a:t>
            </a:r>
          </a:p>
          <a:p>
            <a:pPr algn="l" lvl="2" indent="-342900" marL="681482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" sz="2666" b="false" i="false" u="none" strike="noStrike">
                <a:solidFill>
                  <a:srgbClr val="000000"/>
                </a:solidFill>
                <a:latin typeface="Heebo ExtraLight"/>
              </a:rPr>
              <a:t>Driver: 550.54.15</a:t>
            </a:r>
          </a:p>
          <a:p>
            <a:pPr algn="l" lvl="2" indent="-342900" marL="681482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" sz="2666" b="false" i="false" u="none" strike="noStrike">
                <a:solidFill>
                  <a:srgbClr val="000000"/>
                </a:solidFill>
                <a:latin typeface="Heebo ExtraLight"/>
              </a:rPr>
              <a:t>CUDA: 12.4</a:t>
            </a:r>
          </a:p>
          <a:p>
            <a:pPr algn="l" lvl="2" indent="-342900" marL="681482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666" b="false" i="false" u="none" strike="noStrike">
                <a:solidFill>
                  <a:srgbClr val="000000"/>
                </a:solidFill>
                <a:latin typeface="Heebo ExtraLight"/>
              </a:rPr>
              <a:t>GPU Memory Used: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ExtraLight"/>
              </a:rPr>
              <a:t>약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ExtraLight"/>
              </a:rPr>
              <a:t> 555 MiB (AE + SAC)</a:t>
            </a:r>
          </a:p>
          <a:p>
            <a:pPr algn="l" lvl="0">
              <a:lnSpc>
                <a:spcPct val="107899"/>
              </a:lnSpc>
            </a:pPr>
            <a:r>
              <a:rPr lang="en" sz="2666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" sz="2666" b="true" i="false" u="none" strike="noStrike">
                <a:solidFill>
                  <a:srgbClr val="000000"/>
                </a:solidFill>
                <a:latin typeface="Heebo ExtraLight"/>
              </a:rPr>
              <a:t>Software</a:t>
            </a:r>
          </a:p>
          <a:p>
            <a:pPr algn="l" lvl="2" indent="-342900" marL="681482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" sz="2666" b="false" i="false" u="none" strike="noStrike">
                <a:solidFill>
                  <a:srgbClr val="000000"/>
                </a:solidFill>
                <a:latin typeface="Heebo ExtraLight"/>
              </a:rPr>
              <a:t>torch &gt;= 2.0.0</a:t>
            </a:r>
          </a:p>
          <a:p>
            <a:pPr algn="l" lvl="2" indent="-342900" marL="681482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" sz="2666" b="false" i="false" u="none" strike="noStrike">
                <a:solidFill>
                  <a:srgbClr val="000000"/>
                </a:solidFill>
                <a:latin typeface="Heebo ExtraLight"/>
              </a:rPr>
              <a:t>numpy &gt;= 1.24.0</a:t>
            </a:r>
          </a:p>
          <a:p>
            <a:pPr algn="l" lvl="2" indent="-342900" marL="681482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" sz="2666" b="false" i="false" u="none" strike="noStrike">
                <a:solidFill>
                  <a:srgbClr val="000000"/>
                </a:solidFill>
                <a:latin typeface="Heebo ExtraLight"/>
              </a:rPr>
              <a:t>pandas &gt;= 2.0.0</a:t>
            </a:r>
          </a:p>
          <a:p>
            <a:pPr algn="l" lvl="2" indent="-342900" marL="681482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" sz="2666" b="false" i="false" u="none" strike="noStrike">
                <a:solidFill>
                  <a:srgbClr val="000000"/>
                </a:solidFill>
                <a:latin typeface="Heebo ExtraLight"/>
              </a:rPr>
              <a:t>matplotlib &gt;= 3.7.0
scikit-learn &gt;= 1.3.0</a:t>
            </a:r>
          </a:p>
          <a:p>
            <a:pPr algn="l" lvl="0">
              <a:lnSpc>
                <a:spcPct val="107899"/>
              </a:lnSpc>
            </a:pPr>
            <a:r>
              <a:rPr lang="en" sz="2666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" sz="2666" b="false" i="false" u="none" strike="noStrike">
                <a:solidFill>
                  <a:srgbClr val="000000"/>
                </a:solidFill>
                <a:latin typeface="Heebo ExtraLight"/>
              </a:rPr>
              <a:t>Runtime Settings</a:t>
            </a:r>
          </a:p>
          <a:p>
            <a:pPr algn="l" lvl="2" indent="-342900" marL="681482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666" b="false" i="false" u="none" strike="noStrike">
                <a:solidFill>
                  <a:srgbClr val="000000"/>
                </a:solidFill>
                <a:latin typeface="Heebo ExtraLight"/>
              </a:rPr>
              <a:t>GPU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ExtraLight"/>
              </a:rPr>
              <a:t>기반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ExtraLight"/>
              </a:rPr>
              <a:t>연산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ExtraLight"/>
              </a:rPr>
              <a:t> (device='cuda')</a:t>
            </a:r>
          </a:p>
          <a:p>
            <a:pPr algn="l" lvl="2" indent="-342900" marL="681482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666" b="false" i="false" u="none" strike="noStrike">
                <a:solidFill>
                  <a:srgbClr val="000000"/>
                </a:solidFill>
                <a:latin typeface="Heebo ExtraLight"/>
              </a:rPr>
              <a:t>Training episode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ExtraLight"/>
              </a:rPr>
              <a:t>수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ExtraLight"/>
              </a:rPr>
              <a:t>: 100–400 (mode</a:t>
            </a:r>
            <a:r>
              <a:rPr lang="ko-KR" sz="2666" b="false" i="false" u="none" strike="noStrike">
                <a:solidFill>
                  <a:srgbClr val="000000"/>
                </a:solidFill>
                <a:ea typeface="Heebo ExtraLight"/>
              </a:rPr>
              <a:t>에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ExtraLight"/>
              </a:rPr>
              <a:t>따라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ExtraLight"/>
              </a:rPr>
              <a:t>상이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ExtraLight"/>
              </a:rPr>
              <a:t>)
Replay Buffer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ExtraLight"/>
              </a:rPr>
              <a:t>크기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ExtraLight"/>
              </a:rPr>
              <a:t>: 100,000
Batch size: 256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31800" y="4597400"/>
            <a:ext cx="8953500" cy="5969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>Experiemnts categories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23900" y="5283200"/>
            <a:ext cx="8674100" cy="6362700"/>
          </a:xfrm>
          <a:prstGeom prst="rect">
            <a:avLst/>
          </a:prstGeom>
        </p:spPr>
        <p:txBody>
          <a:bodyPr anchor="t" rtlCol="false" lIns="0" tIns="13547" rIns="0" bIns="0"/>
          <a:lstStyle/>
          <a:p>
            <a:pPr algn="l" lvl="0">
              <a:lnSpc>
                <a:spcPct val="107899"/>
              </a:lnSpc>
            </a:pPr>
            <a:r>
              <a:rPr lang="en" sz="2133" b="tru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Light"/>
              </a:rPr>
              <a:t>Encoder Architectures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목표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: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가장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좋은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latent representation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학습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비교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대상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: MLP, MLP-Deep, Conv1D, LSTM, Transformer</a:t>
            </a:r>
          </a:p>
          <a:p>
            <a:pPr algn="l" lvl="0">
              <a:lnSpc>
                <a:spcPct val="107899"/>
              </a:lnSpc>
            </a:pPr>
            <a:r>
              <a:rPr lang="en-US" sz="2133" b="tru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Light"/>
              </a:rPr>
              <a:t>Window Size (</a:t>
            </a:r>
            <a:r>
              <a:rPr lang="ko-KR" sz="2133" b="true" i="false" u="none" strike="noStrike">
                <a:solidFill>
                  <a:srgbClr val="000000"/>
                </a:solidFill>
                <a:highlight>
                  <a:srgbClr val="FEEFC5"/>
                </a:highlight>
                <a:ea typeface="Heebo ExtraLight"/>
              </a:rPr>
              <a:t>시간</a:t>
            </a:r>
            <a:r>
              <a:rPr lang="en-US" sz="2133" b="tru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Light"/>
              </a:rPr>
              <a:t> </a:t>
            </a:r>
            <a:r>
              <a:rPr lang="ko-KR" sz="2133" b="true" i="false" u="none" strike="noStrike">
                <a:solidFill>
                  <a:srgbClr val="000000"/>
                </a:solidFill>
                <a:highlight>
                  <a:srgbClr val="FEEFC5"/>
                </a:highlight>
                <a:ea typeface="Heebo ExtraLight"/>
              </a:rPr>
              <a:t>창</a:t>
            </a:r>
            <a:r>
              <a:rPr lang="en-US" sz="2133" b="tru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Light"/>
              </a:rPr>
              <a:t> </a:t>
            </a:r>
            <a:r>
              <a:rPr lang="ko-KR" sz="2133" b="true" i="false" u="none" strike="noStrike">
                <a:solidFill>
                  <a:srgbClr val="000000"/>
                </a:solidFill>
                <a:highlight>
                  <a:srgbClr val="FEEFC5"/>
                </a:highlight>
                <a:ea typeface="Heebo ExtraLight"/>
              </a:rPr>
              <a:t>길이</a:t>
            </a:r>
            <a:r>
              <a:rPr lang="en-US" sz="2133" b="tru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Light"/>
              </a:rPr>
              <a:t> </a:t>
            </a:r>
            <a:r>
              <a:rPr lang="ko-KR" sz="2133" b="true" i="false" u="none" strike="noStrike">
                <a:solidFill>
                  <a:srgbClr val="000000"/>
                </a:solidFill>
                <a:highlight>
                  <a:srgbClr val="FEEFC5"/>
                </a:highlight>
                <a:ea typeface="Heebo ExtraLight"/>
              </a:rPr>
              <a:t>효과</a:t>
            </a:r>
            <a:r>
              <a:rPr lang="en-US" sz="2133" b="tru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Light"/>
              </a:rPr>
              <a:t> </a:t>
            </a:r>
            <a:r>
              <a:rPr lang="ko-KR" sz="2133" b="true" i="false" u="none" strike="noStrike">
                <a:solidFill>
                  <a:srgbClr val="000000"/>
                </a:solidFill>
                <a:highlight>
                  <a:srgbClr val="FEEFC5"/>
                </a:highlight>
                <a:ea typeface="Heebo ExtraLight"/>
              </a:rPr>
              <a:t>분석</a:t>
            </a:r>
            <a:r>
              <a:rPr lang="en-US" sz="2133" b="tru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Light"/>
              </a:rPr>
              <a:t>)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실험값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: 48 / 96 / 192 / 336 / 512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Trade-off: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길수록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더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많은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temporal context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확보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vs.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복잡도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증가</a:t>
            </a:r>
            <a:r>
              <a:rPr lang="en" sz="21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" sz="2133" b="tru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Light"/>
              </a:rPr>
              <a:t>Action Scale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에이전트가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latent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공간에서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움직이는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step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크기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값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: 0.05 · 0.10 · 0.15 · 0.20</a:t>
            </a:r>
            <a:r>
              <a:rPr lang="en" sz="21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" sz="2133" b="tru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Light"/>
              </a:rPr>
              <a:t>Reward Weight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보상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설정에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따라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학습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결과가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크게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달라짐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실험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구성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:</a:t>
            </a:r>
          </a:p>
          <a:p>
            <a:pPr algn="l" lvl="2" indent="-342900" marL="613791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LatentEmphasis: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alignment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최고</a:t>
            </a:r>
          </a:p>
          <a:p>
            <a:pPr algn="l" lvl="2" indent="-342900" marL="613791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ReconEmphasis: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재구성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(MSE)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최고</a:t>
            </a:r>
          </a:p>
          <a:p>
            <a:pPr algn="l" lvl="2" indent="-342900" marL="613791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Balanced: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전체적으로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평균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이상</a:t>
            </a:r>
            <a:r>
              <a:rPr lang="en" sz="21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" sz="2133" b="tru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Light"/>
              </a:rPr>
              <a:t>Latent Dimension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실험값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: 16 / 32 / 64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Trade-off: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표현력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vs.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효율</a:t>
            </a:r>
            <a:b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</a:br>
          </a:p>
        </p:txBody>
      </p:sp>
      <p:sp>
        <p:nvSpPr>
          <p:cNvPr name="TextBox 11" id="11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06. Experiment Setup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p.21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80300" y="4318000"/>
            <a:ext cx="9410700" cy="6604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FD9F28"/>
                </a:solidFill>
                <a:latin typeface="Heebo ExtraBold"/>
              </a:rPr>
              <a:t>Encoder Architecture Variants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540000" y="5613400"/>
            <a:ext cx="6096000" cy="952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156700" y="5613400"/>
            <a:ext cx="6134100" cy="952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798800" y="5613400"/>
            <a:ext cx="61341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803900" y="9474200"/>
            <a:ext cx="6134100" cy="952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446000" y="9474200"/>
            <a:ext cx="6134100" cy="9525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2743200" y="5588000"/>
            <a:ext cx="5689600" cy="838200"/>
          </a:xfrm>
          <a:prstGeom prst="rect">
            <a:avLst/>
          </a:prstGeom>
        </p:spPr>
        <p:txBody>
          <a:bodyPr anchor="b" rtlCol="false" lIns="0" tIns="0" rIns="0" bIns="47413"/>
          <a:lstStyle/>
          <a:p>
            <a:pPr algn="ctr" lvl="0">
              <a:lnSpc>
                <a:spcPct val="996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Bold"/>
              </a:rPr>
              <a:t>MLP (Baseline)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85300" y="5588000"/>
            <a:ext cx="5689600" cy="838200"/>
          </a:xfrm>
          <a:prstGeom prst="rect">
            <a:avLst/>
          </a:prstGeom>
        </p:spPr>
        <p:txBody>
          <a:bodyPr anchor="b" rtlCol="false" lIns="0" tIns="0" rIns="0" bIns="47413"/>
          <a:lstStyle/>
          <a:p>
            <a:pPr algn="ctr" lvl="0">
              <a:lnSpc>
                <a:spcPct val="996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Bold"/>
              </a:rPr>
              <a:t>MLP_Deep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14700" y="5588000"/>
            <a:ext cx="5689600" cy="838200"/>
          </a:xfrm>
          <a:prstGeom prst="rect">
            <a:avLst/>
          </a:prstGeom>
        </p:spPr>
        <p:txBody>
          <a:bodyPr anchor="b" rtlCol="false" lIns="0" tIns="0" rIns="0" bIns="47413"/>
          <a:lstStyle/>
          <a:p>
            <a:pPr algn="ctr" lvl="0">
              <a:lnSpc>
                <a:spcPct val="99600"/>
              </a:lnSpc>
            </a:pPr>
            <a:r>
              <a:rPr lang="en" sz="3733" b="false" i="false" u="none" strike="noStrike">
                <a:solidFill>
                  <a:srgbClr val="FFFFFF"/>
                </a:solidFill>
                <a:latin typeface="Heebo ExtraBold"/>
              </a:rPr>
              <a:t>Conv1D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68600" y="6896100"/>
            <a:ext cx="5638800" cy="20574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ctr" lvl="0">
              <a:lnSpc>
                <a:spcPct val="1078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latin typeface="Heebo ExtraLight"/>
              </a:rPr>
              <a:t>Input(96) → Linear(128) → ReLU → Linear(128) → ReLU → Latent(32)</a:t>
            </a:r>
          </a:p>
          <a:p>
            <a:pPr algn="ctr" lvl="0">
              <a:lnSpc>
                <a:spcPct val="1078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latin typeface="Heebo ExtraLight"/>
              </a:rPr>
              <a:t>
- Simple feedforward
- Fast training
- Good baseline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98000" y="6858000"/>
            <a:ext cx="5638800" cy="20574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ctr" lvl="0">
              <a:lnSpc>
                <a:spcPct val="1078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latin typeface="Heebo ExtraLight"/>
              </a:rPr>
              <a:t>Input(96) → Linear(256) → ReLU → Linear(256) → ReLU → Linear(128) → ReLU → Latent(32)</a:t>
            </a:r>
          </a:p>
          <a:p>
            <a:pPr algn="ctr" lvl="0">
              <a:lnSpc>
                <a:spcPct val="1078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latin typeface="Heebo ExtraLight"/>
              </a:rPr>
              <a:t>
- Deeper network
- More capacity
- Better representations?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040100" y="6858000"/>
            <a:ext cx="5638800" cy="23876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ctr" lvl="0">
              <a:lnSpc>
                <a:spcPct val="1078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latin typeface="Heebo ExtraLight"/>
              </a:rPr>
              <a:t>Input(96) → Conv1D(64) → Pool → Conv1D(128) → Pool → Conv1D(256) → Pool → Flatten → Linear(256) → Latent(32)</a:t>
            </a:r>
          </a:p>
          <a:p>
            <a:pPr algn="ctr" lvl="0">
              <a:lnSpc>
                <a:spcPct val="1078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latin typeface="Heebo ExtraLight"/>
              </a:rPr>
              <a:t>
- Local patterns
- Translation invariance
- Efficient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32500" y="9448800"/>
            <a:ext cx="5689600" cy="838200"/>
          </a:xfrm>
          <a:prstGeom prst="rect">
            <a:avLst/>
          </a:prstGeom>
        </p:spPr>
        <p:txBody>
          <a:bodyPr anchor="b" rtlCol="false" lIns="0" tIns="0" rIns="0" bIns="47413"/>
          <a:lstStyle/>
          <a:p>
            <a:pPr algn="ctr" lvl="0">
              <a:lnSpc>
                <a:spcPct val="996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Bold"/>
              </a:rPr>
              <a:t>LSTM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61900" y="9448800"/>
            <a:ext cx="5689600" cy="838200"/>
          </a:xfrm>
          <a:prstGeom prst="rect">
            <a:avLst/>
          </a:prstGeom>
        </p:spPr>
        <p:txBody>
          <a:bodyPr anchor="b" rtlCol="false" lIns="0" tIns="0" rIns="0" bIns="47413"/>
          <a:lstStyle/>
          <a:p>
            <a:pPr algn="ctr" lvl="0">
              <a:lnSpc>
                <a:spcPct val="996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Bold"/>
              </a:rPr>
              <a:t>Transformer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57900" y="10718800"/>
            <a:ext cx="5638800" cy="20574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ctr" lvl="0">
              <a:lnSpc>
                <a:spcPct val="1078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latin typeface="Heebo ExtraLight"/>
              </a:rPr>
              <a:t>Input(96) → LSTM(128, 2 layers) → Last hidden → 
Linear(128) → ReLU → Latent(32)
</a:t>
            </a:r>
            <a:r>
              <a:rPr lang="en" sz="2000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ctr" lvl="0">
              <a:lnSpc>
                <a:spcPct val="1078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latin typeface="Heebo ExtraLight"/>
              </a:rPr>
              <a:t>- Sequential processing
- Temporal dependencies
- Memory mechanism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87300" y="10718800"/>
            <a:ext cx="5638800" cy="23876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ctr" lvl="0">
              <a:lnSpc>
                <a:spcPct val="1078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latin typeface="Heebo ExtraLight"/>
              </a:rPr>
              <a:t>Input(96) → Embed(128) → Positional → 
TransformerEncoder(128, 4 heads, 2 layers) → 
GlobalPool → Linear(128) → Latent(32)
</a:t>
            </a:r>
            <a:r>
              <a:rPr lang="en" sz="2000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ctr" lvl="0">
              <a:lnSpc>
                <a:spcPct val="1078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latin typeface="Heebo ExtraLight"/>
              </a:rPr>
              <a:t>- Self-attention
- Parallel processing
- Long-range dependencies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06. Experiment Setup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p.22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80300" y="4318000"/>
            <a:ext cx="9410700" cy="7493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FD9F28"/>
                </a:solidFill>
                <a:latin typeface="Heebo ExtraBold"/>
              </a:rPr>
              <a:t>Action Scale Experiments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75200" y="5473700"/>
            <a:ext cx="15697200" cy="36449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Bold"/>
              </a:rPr>
              <a:t>Hypothesis
</a:t>
            </a:r>
            <a:r>
              <a:rPr lang="en" sz="3333" b="false" i="false" u="none" strike="noStrike">
                <a:solidFill>
                  <a:srgbClr val="000000"/>
                </a:solidFill>
                <a:latin typeface="Heebo Medium"/>
              </a:rPr>
              <a:t>Action scale controls the magnitude of latent space movement
</a:t>
            </a:r>
            <a:r>
              <a:rPr lang="en" sz="3333" b="false" i="false" u="none" strike="noStrike">
                <a:solidFill>
                  <a:srgbClr val="000000"/>
                </a:solidFill>
                <a:latin typeface="Heebo Medium"/>
              </a:rPr>
              <a:t/>
            </a:r>
          </a:p>
          <a:p>
            <a:pPr algn="ctr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Medium"/>
              </a:rPr>
              <a:t>z_{t+1} = z_t + a_t
where |a_t| ≤ action_scale</a:t>
            </a:r>
          </a:p>
          <a:p>
            <a:pPr algn="ctr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Medium"/>
              </a:rPr>
              <a:t/>
            </a:r>
          </a:p>
          <a:p>
            <a:pPr algn="ctr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Medium"/>
              </a:rPr>
              <a:t/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5981700" y="8788400"/>
          <a:ext cx="5359400" cy="3225800"/>
        </p:xfrm>
        <a:graphic>
          <a:graphicData uri="http://schemas.openxmlformats.org/drawingml/2006/table">
            <a:tbl>
              <a:tblPr/>
              <a:tblGrid>
                <a:gridCol w="1762749"/>
                <a:gridCol w="3595566"/>
              </a:tblGrid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action_scale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Expected Behavior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0.05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Small steps, smooth but slow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0.10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Balanced (baseline)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0.15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Larger steps, faster but less stable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4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0.20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Very large steps, risk of instability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2623800" y="9080500"/>
            <a:ext cx="9283700" cy="2946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Bold"/>
              </a:rPr>
              <a:t>Research Questions
</a:t>
            </a: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>1. What is the optimal action scale?
2. Trade-off between speed and stability?
</a:t>
            </a:r>
          </a:p>
          <a:p>
            <a:pPr algn="l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Medium"/>
              </a:rPr>
              <a:t/>
            </a:r>
          </a:p>
          <a:p>
            <a:pPr algn="l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Medium"/>
              </a:rPr>
              <a:t/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06. Experiment Setup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p.23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80300" y="4318000"/>
            <a:ext cx="9410700" cy="7493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FD9F28"/>
                </a:solidFill>
                <a:latin typeface="Heebo ExtraBold"/>
              </a:rPr>
              <a:t>Reward Weight Experiments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3800" y="5346700"/>
            <a:ext cx="9436100" cy="77089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l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Bold"/>
              </a:rPr>
              <a:t>Configurations</a:t>
            </a:r>
            <a:br>
              <a:rPr lang="en" sz="3333" b="fals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Bold"/>
              </a:rPr>
            </a:br>
            <a:br>
              <a:rPr lang="en" sz="3333" b="fals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Bold"/>
              </a:rPr>
            </a:br>
            <a:r>
              <a:rPr lang="en" sz="3333" b="true" i="false" u="none" strike="noStrike">
                <a:solidFill>
                  <a:srgbClr val="000000"/>
                </a:solidFill>
                <a:latin typeface="Heebo Medium"/>
              </a:rPr>
              <a:t>1. Latent Emphasis
</a:t>
            </a:r>
            <a:r>
              <a:rPr lang="en" sz="3333" b="false" i="false" u="none" strike="noStrike">
                <a:solidFill>
                  <a:srgbClr val="000000"/>
                </a:solidFill>
                <a:latin typeface="Heebo Medium"/>
              </a:rPr>
              <a:t>Weights: [50, 10, 5, 5, 50]
Focus: Maximum alignment with teacher
</a:t>
            </a:r>
            <a:r>
              <a:rPr lang="en" sz="3333" b="true" i="false" u="none" strike="noStrike">
                <a:solidFill>
                  <a:srgbClr val="000000"/>
                </a:solidFill>
                <a:latin typeface="Heebo Medium"/>
              </a:rPr>
              <a:t>2. Reconstruction Emphasis
</a:t>
            </a:r>
            <a:r>
              <a:rPr lang="en" sz="3333" b="false" i="false" u="none" strike="noStrike">
                <a:solidFill>
                  <a:srgbClr val="000000"/>
                </a:solidFill>
                <a:latin typeface="Heebo Medium"/>
              </a:rPr>
              <a:t>Weights: [20, 30, 10, 5, 50]
Focus: High-quality reconstruction
</a:t>
            </a:r>
            <a:r>
              <a:rPr lang="en" sz="3333" b="true" i="false" u="none" strike="noStrike">
                <a:solidFill>
                  <a:srgbClr val="000000"/>
                </a:solidFill>
                <a:latin typeface="Heebo Medium"/>
              </a:rPr>
              <a:t>3. Balanced
</a:t>
            </a:r>
            <a:r>
              <a:rPr lang="en" sz="3333" b="false" i="false" u="none" strike="noStrike">
                <a:solidFill>
                  <a:srgbClr val="000000"/>
                </a:solidFill>
                <a:latin typeface="Heebo Medium"/>
              </a:rPr>
              <a:t>Weights: [25, 25, 15, 10, 50]
Focus: Equal importance</a:t>
            </a:r>
          </a:p>
          <a:p>
            <a:pPr algn="l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Medium"/>
              </a:rPr>
              <a:t/>
            </a:r>
          </a:p>
          <a:p>
            <a:pPr algn="l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Medium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63500" y="5346700"/>
            <a:ext cx="9283700" cy="4254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Bold"/>
              </a:rPr>
              <a:t>Hypothesis</a:t>
            </a:r>
          </a:p>
          <a:p>
            <a:pPr algn="l" lvl="0">
              <a:lnSpc>
                <a:spcPct val="124499"/>
              </a:lnSpc>
            </a:pPr>
            <a:br>
              <a:rPr/>
            </a:b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>- Latent emphasis → Better trajectory following
- Recon emphasis → Better forecasting quality
- Balanced → Best overall performance?</a:t>
            </a:r>
          </a:p>
          <a:p>
            <a:pPr algn="l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Medium"/>
              </a:rPr>
              <a:t/>
            </a:r>
          </a:p>
          <a:p>
            <a:pPr algn="l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Medium"/>
              </a:rPr>
              <a:t/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06. Experiment Setup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p.24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80300" y="4318000"/>
            <a:ext cx="9410700" cy="7493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FD9F28"/>
                </a:solidFill>
                <a:latin typeface="Heebo ExtraBold"/>
              </a:rPr>
              <a:t>Latent Dimension Experiments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95600" y="5080000"/>
            <a:ext cx="9436100" cy="48133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l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Bold"/>
              </a:rPr>
              <a:t>
Hypothesis</a:t>
            </a:r>
          </a:p>
          <a:p>
            <a:pPr algn="l" lvl="0">
              <a:lnSpc>
                <a:spcPct val="99600"/>
              </a:lnSpc>
            </a:pPr>
            <a:br>
              <a:rPr/>
            </a:b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>Latent dimension affects representation capacity
</a:t>
            </a: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/>
            </a:r>
          </a:p>
          <a:p>
            <a:pPr algn="l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>latent_dim ∈ {16, 32, 64}</a:t>
            </a:r>
          </a:p>
          <a:p>
            <a:pPr algn="l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Medium"/>
              </a:rPr>
              <a:t/>
            </a:r>
          </a:p>
          <a:p>
            <a:pPr algn="l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Medium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63500" y="5588000"/>
            <a:ext cx="9283700" cy="4851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Bold"/>
              </a:rPr>
              <a:t>Research Questions
</a:t>
            </a: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/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>What is minimum dimension for good performance?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>Diminishing returns beyond certain size?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>Impact on RL training difficulty?</a:t>
            </a:r>
          </a:p>
          <a:p>
            <a:pPr algn="l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Medium"/>
              </a:rPr>
              <a:t/>
            </a:r>
          </a:p>
          <a:p>
            <a:pPr algn="l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Medium"/>
              </a:rPr>
              <a:t/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4267200" y="9182100"/>
          <a:ext cx="5321300" cy="3873500"/>
        </p:xfrm>
        <a:graphic>
          <a:graphicData uri="http://schemas.openxmlformats.org/drawingml/2006/table">
            <a:tbl>
              <a:tblPr/>
              <a:tblGrid>
                <a:gridCol w="1332213"/>
                <a:gridCol w="1741461"/>
                <a:gridCol w="1178220"/>
                <a:gridCol w="1074692"/>
              </a:tblGrid>
              <a:tr h="85256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Dimension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Compression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Capacity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Speed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242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16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High (96→16 = 6×)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Low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Fast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746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32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Medium (96→32 = 3×)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Medium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Medium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164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64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Low (96→64 = 1.5×)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High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Slow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06. Experiment Setup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p.25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80300" y="4318000"/>
            <a:ext cx="9410700" cy="7493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FD9F28"/>
                </a:solidFill>
                <a:latin typeface="Heebo ExtraBold"/>
              </a:rPr>
              <a:t>window size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95600" y="5080000"/>
            <a:ext cx="9436100" cy="48133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l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Bold"/>
              </a:rPr>
              <a:t>
Hypothesis</a:t>
            </a:r>
          </a:p>
          <a:p>
            <a:pPr algn="l" lvl="0">
              <a:lnSpc>
                <a:spcPct val="99600"/>
              </a:lnSpc>
            </a:pPr>
            <a:br>
              <a:rPr/>
            </a:b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>Latent dimension affects representation capacity
</a:t>
            </a: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/>
            </a:r>
          </a:p>
          <a:p>
            <a:pPr algn="l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>latent_dim ∈ {16, 32, 64}</a:t>
            </a:r>
          </a:p>
          <a:p>
            <a:pPr algn="l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Arial"/>
              </a:rPr>
              <a:t/>
            </a:r>
          </a:p>
          <a:p>
            <a:pPr algn="l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63500" y="5588000"/>
            <a:ext cx="9283700" cy="4851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highlight>
                  <a:srgbClr val="FEEFC5"/>
                </a:highlight>
                <a:latin typeface="Heebo ExtraBold"/>
              </a:rPr>
              <a:t>Research Questions
</a:t>
            </a: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/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>What is minimum dimension for good performance?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>Diminishing returns beyond certain size?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" sz="3333" b="false" i="false" u="none" strike="noStrike">
                <a:solidFill>
                  <a:srgbClr val="000000"/>
                </a:solidFill>
                <a:latin typeface="Heebo ExtraBold"/>
              </a:rPr>
              <a:t>Impact on RL training difficulty?</a:t>
            </a:r>
          </a:p>
          <a:p>
            <a:pPr algn="l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Arial"/>
              </a:rPr>
              <a:t/>
            </a:r>
          </a:p>
          <a:p>
            <a:pPr algn="l" lvl="0">
              <a:lnSpc>
                <a:spcPct val="99600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Arial"/>
              </a:rPr>
              <a:t/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4267200" y="9182100"/>
          <a:ext cx="5321300" cy="3873500"/>
        </p:xfrm>
        <a:graphic>
          <a:graphicData uri="http://schemas.openxmlformats.org/drawingml/2006/table">
            <a:tbl>
              <a:tblPr/>
              <a:tblGrid>
                <a:gridCol w="1332213"/>
                <a:gridCol w="1741461"/>
                <a:gridCol w="1178220"/>
                <a:gridCol w="1074692"/>
              </a:tblGrid>
              <a:tr h="85256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Dimension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Compression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Capacity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Speed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242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16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High (96→16 = 6×)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Low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Fast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746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32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Medium (96→32 = 3×)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Medium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Medium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164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64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Low (96→64 = 1.5×)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High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135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Slow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06. Experiment Setup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2463800" y="6146800"/>
            <a:ext cx="18542000" cy="5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152900" y="4076700"/>
            <a:ext cx="787400" cy="4152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9004300" y="4076700"/>
            <a:ext cx="787400" cy="4152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3855700" y="4076700"/>
            <a:ext cx="787400" cy="4152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8694400" y="4076700"/>
            <a:ext cx="787400" cy="4152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2641600" y="5816600"/>
            <a:ext cx="37211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latin typeface="Heebo SemiBold"/>
              </a:rPr>
              <a:t>Avg Latent Distance </a:t>
            </a:r>
          </a:p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(</a:t>
            </a: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평균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잠재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공간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거리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93000" y="5816600"/>
            <a:ext cx="37211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latin typeface="Heebo SemiBold"/>
              </a:rPr>
              <a:t>Reconstruction MSE </a:t>
            </a:r>
          </a:p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(</a:t>
            </a: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원본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시계열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복원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오차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44400" y="5816600"/>
            <a:ext cx="37211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latin typeface="Heebo SemiBold"/>
              </a:rPr>
              <a:t>Final Latent Distance</a:t>
            </a:r>
          </a:p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 (</a:t>
            </a: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최종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 Step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거리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195800" y="5816600"/>
            <a:ext cx="37211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Training Time
(</a:t>
            </a: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실험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카테고리별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걸린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시간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63800" y="6997700"/>
            <a:ext cx="4229100" cy="43180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ea typeface="Heebo ExtraLight"/>
              </a:rPr>
              <a:t>✔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의미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
: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학습된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정책이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전체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trajectory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동안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teacher trajectory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얼마나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가까운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값을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만드는지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
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즉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,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에이전트가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패턴을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전체적으로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얼마나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mimic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했는지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측정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
✔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해석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
0.3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이하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→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매우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학습됨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
0.5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이상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→ pattern imitation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실패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가능성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높음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
→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가장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중요한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핵심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성능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지표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15200" y="6997700"/>
            <a:ext cx="4229100" cy="33274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ea typeface="Heebo ExtraLight"/>
              </a:rPr>
              <a:t>✔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의미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latent vector z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로부터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복원한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window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teacher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실제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window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얼마나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유사한지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평가하는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지표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VAE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decoder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품질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+ policy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만든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z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품질까지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반영됨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ea typeface="Heebo ExtraLight"/>
              </a:rPr>
              <a:t>✔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해석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0.02 ~ 0.04: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매우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우수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
0.05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이상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: noisy reconstruction → latent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오류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가능성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92000" y="6858000"/>
            <a:ext cx="4229100" cy="33274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ea typeface="Heebo ExtraLight"/>
              </a:rPr>
              <a:t>✔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의미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마지막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step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에서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teacher latent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얼마나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가까운지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예측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/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생성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모델에서는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미래를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얼마나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정확히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따라가는지를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의미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ea typeface="Heebo ExtraLight"/>
              </a:rPr>
              <a:t>✔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중요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?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trajectory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중간은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따라가도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마지막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step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에서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크게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벗어나면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forecasting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성능이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떨어짐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
→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미래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예측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측면에서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중요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018000" y="6997700"/>
            <a:ext cx="4229100" cy="43180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모델의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비용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추정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RL(SAC) vs BC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훈련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시간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격차가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크므로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프로젝트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비용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산정에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중요</a:t>
            </a:r>
            <a:r>
              <a:rPr lang="en" sz="2000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구조별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효율성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비교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Encoder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구조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(MLP/Conv/LSTM/Transformer)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에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따라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학습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속도가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크게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다름</a:t>
            </a:r>
            <a:r>
              <a:rPr lang="en" sz="2000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하이퍼파라미터의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영향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확인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Window size·latent dimension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직접적으로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연산량을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바꿈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AutoML/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탐색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프레임워크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설계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어떤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설정이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computation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효율이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좋은지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자동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추천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가능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94500" y="4343400"/>
            <a:ext cx="11303000" cy="596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Pretendard Black"/>
              </a:rPr>
              <a:t>Policy Evaluation Metrics (RL-based Pattern Imitation)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692400" y="11569700"/>
            <a:ext cx="3606800" cy="1651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674600" y="11874500"/>
            <a:ext cx="3175000" cy="965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115300" y="11874500"/>
            <a:ext cx="25400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06. Experiment Setup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p.27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2463800" y="6146800"/>
            <a:ext cx="18542000" cy="5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152900" y="4076700"/>
            <a:ext cx="787400" cy="4152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9004300" y="4076700"/>
            <a:ext cx="787400" cy="4152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3855700" y="4076700"/>
            <a:ext cx="787400" cy="4152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8694400" y="4076700"/>
            <a:ext cx="787400" cy="4152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2641600" y="5816600"/>
            <a:ext cx="37211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Avg Distance —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평균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 Latent Tracking Error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93000" y="5816600"/>
            <a:ext cx="37211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latin typeface="Heebo SemiBold"/>
              </a:rPr>
              <a:t>Final Distance — 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마지막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 Step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오차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44400" y="5816600"/>
            <a:ext cx="37211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latin typeface="Heebo SemiBold"/>
              </a:rPr>
              <a:t>Recon MSE — Window Reconstruction Error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195800" y="5969000"/>
            <a:ext cx="3721100" cy="3556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Training Time —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학습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시간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63800" y="6997700"/>
            <a:ext cx="4229100" cy="46609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정의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: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Teacher trajectory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Agent trajectory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latent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공간에서의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평균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거리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(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오차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).
</a:t>
            </a:r>
            <a:r>
              <a:rPr lang="en" sz="2000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중요한가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?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Agent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얼마나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teacher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행동을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모방했는지를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나타내는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핵심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지표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값이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낮을수록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latent policy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teacher dynamics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를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따라간다</a:t>
            </a:r>
          </a:p>
          <a:p>
            <a:pPr algn="l" lvl="0">
              <a:lnSpc>
                <a:spcPct val="1078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그래프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해석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막대기가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낮을수록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값이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작은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것을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의미하며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,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안정적인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것을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의미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15200" y="6997700"/>
            <a:ext cx="4229100" cy="43180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정의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: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Trajectory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끝에서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teacher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얼마나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벌어졌는지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의미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: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Latent policy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누적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오차에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얼마나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robust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한지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측정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그래프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요점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: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SAC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trajectory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후반에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divergence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커짐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BC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trajectory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전체에서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안정적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
➡ SAC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control stability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떨어지는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것을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시각적으로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확인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가능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92000" y="6934200"/>
            <a:ext cx="4229100" cy="43307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정의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: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Latent → Decoder →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원래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시계열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복원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과정의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오차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중요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?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Latent policy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아무리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teacher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를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따라도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, Decoder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부정확하면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예측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시계열이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깨짐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그래프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요점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: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Conv1D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MSE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가장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낮음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→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실제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시계열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복원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능력이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가장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좋음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
Transformer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latent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잡아도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reconstruction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불안정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→ Decoder mismatch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문제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018000" y="7112000"/>
            <a:ext cx="4229100" cy="36703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정의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: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실험을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수행하는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데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걸린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총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시간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시각화하나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?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연구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효율성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실전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적용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가능성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모델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선택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기준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(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성능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/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시간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trade-off)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그래프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요점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: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SAC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BC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보다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2~3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배의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시간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소모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Transformer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가장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시간이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오래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걸림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
Conv1D/MLP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속도가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빠름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22800" y="3810000"/>
            <a:ext cx="18554700" cy="1308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333" b="true" i="false" u="none" strike="noStrike">
                <a:solidFill>
                  <a:srgbClr val="000000"/>
                </a:solidFill>
                <a:latin typeface="Heebo Regular"/>
              </a:rPr>
              <a:t>Policy visualization metrics(RL-based Pattern Imitation)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시각화는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모든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실험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(Encoder × BC/SAC ×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다양한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window/hyperparameter)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하나의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패널에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모아서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비교한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것이다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.
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즉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,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이것은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모델의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정책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품질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+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재구성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품질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+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학습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비용을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한눈에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비교하는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대시보드이다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. - 4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개의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서브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플롯을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통해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다음을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시각화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함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06. Experiment Setup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p.28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0790903">
            <a:off x="7696200" y="6210300"/>
            <a:ext cx="9004300" cy="5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372600" y="4152900"/>
            <a:ext cx="787400" cy="4152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4224000" y="4152900"/>
            <a:ext cx="787400" cy="41529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7848600" y="6045200"/>
            <a:ext cx="3721100" cy="3556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latin typeface="Heebo SemiBold"/>
              </a:rPr>
              <a:t>MSE (Mean Squared Error)
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12700" y="6045200"/>
            <a:ext cx="3721100" cy="3556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latin typeface="Heebo SemiBold"/>
              </a:rPr>
              <a:t>MAE (Mean Absolute Error)
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96200" y="7073900"/>
            <a:ext cx="4229100" cy="23622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MSE = mean((predictions - ground_truth)²)
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해석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:
-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큰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에러에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민감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(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제곱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)
-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단위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: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원본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데이터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단위의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제곱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
-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낮을수록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좋음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47600" y="7073900"/>
            <a:ext cx="4229100" cy="26924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MAE = mean(|predictions - ground_truth|)
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해석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:
-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모든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에러에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동등한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가중치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
-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단위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: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원본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데이터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단위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
-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해석이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직관적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
-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낮을수록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좋음</a:t>
            </a:r>
            <a:b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</a:br>
          </a:p>
        </p:txBody>
      </p:sp>
      <p:sp>
        <p:nvSpPr>
          <p:cNvPr name="TextBox 14" id="14"/>
          <p:cNvSpPr txBox="true"/>
          <p:nvPr/>
        </p:nvSpPr>
        <p:spPr>
          <a:xfrm rot="0">
            <a:off x="8940800" y="4343400"/>
            <a:ext cx="6629400" cy="596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latin typeface="Pretendard Black"/>
              </a:rPr>
              <a:t>Forecasting Evaluation Metrics 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06. Experiment Setup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p.29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2463800" y="6146800"/>
            <a:ext cx="18542000" cy="5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152900" y="4076700"/>
            <a:ext cx="787400" cy="4152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9004300" y="4076700"/>
            <a:ext cx="787400" cy="4152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3855700" y="4076700"/>
            <a:ext cx="787400" cy="4152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8694400" y="4076700"/>
            <a:ext cx="787400" cy="4152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2717800" y="5969000"/>
            <a:ext cx="3721100" cy="3556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latin typeface="Heebo SemiBold"/>
              </a:rPr>
              <a:t>Agent-Discovered Patterns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93000" y="5816600"/>
            <a:ext cx="37211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latin typeface="Heebo SemiBold"/>
              </a:rPr>
              <a:t>Pattern Confidence / Tracking Error Bar Chart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44400" y="5816600"/>
            <a:ext cx="37211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Performance vs Horizon (MSE, MAE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증가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곡선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195800" y="5791200"/>
            <a:ext cx="37211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Horizon</a:t>
            </a:r>
            <a:r>
              <a:rPr lang="ko-KR" sz="2000" b="false" i="false" u="none" strike="noStrike">
                <a:solidFill>
                  <a:srgbClr val="000000"/>
                </a:solidFill>
                <a:ea typeface="Heebo SemiBold"/>
              </a:rPr>
              <a:t>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SemiBold"/>
              </a:rPr>
              <a:t> Forecast Plot (5, 15, 30 step ahead)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63800" y="7035800"/>
            <a:ext cx="4229100" cy="53340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무엇을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그린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것인가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?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Agent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teacher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가장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유사하다고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판단한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"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(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구간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)"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원본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시계열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위에서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표시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각각의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패턴은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서로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다른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색상으로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표현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confidence score(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모델이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그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패턴을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얼마나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teacher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유사하게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느끼는지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)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함께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표시됨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의미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: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모델이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latent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공간에서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“teacher-like pattern”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찾아낼수록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→ forecasting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초기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상태를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잡는다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Conv1D_BC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높은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confidence(0.84~0.95)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안정적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발견이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가능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15200" y="6959600"/>
            <a:ext cx="4229100" cy="46482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두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차트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:</a:t>
            </a:r>
          </a:p>
          <a:p>
            <a:pPr algn="l" lvl="0">
              <a:lnSpc>
                <a:spcPct val="1078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ea typeface="Heebo ExtraLight"/>
              </a:rPr>
              <a:t>✔ Pattern Confidence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각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발견된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패턴의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"teacher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얼마나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비슷한지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"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를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수치화한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것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높을수록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좋음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Conv1D_BC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거의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0.9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→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매우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우수한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imitation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능력</a:t>
            </a:r>
          </a:p>
          <a:p>
            <a:pPr algn="l" lvl="0">
              <a:lnSpc>
                <a:spcPct val="107899"/>
              </a:lnSpc>
            </a:pPr>
            <a:r>
              <a:rPr lang="en" sz="2000" b="false" i="false" u="none" strike="noStrike">
                <a:solidFill>
                  <a:srgbClr val="000000"/>
                </a:solidFill>
                <a:ea typeface="Heebo ExtraLight"/>
              </a:rPr>
              <a:t>✔ Tracking Error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Agent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teacher latent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를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실제로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따라가보았을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때의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오차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낮을수록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좋음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낮은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tracking error = latent policy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teacher dynamics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를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정확히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학습했다는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뜻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92000" y="6934200"/>
            <a:ext cx="4229100" cy="43434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무엇을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의미하나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?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시간이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멀어질수록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예측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오차가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얼마나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커지는지를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시각화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중요한가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?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" sz="2000" b="false" i="false" u="none" strike="noStrike">
                <a:solidFill>
                  <a:srgbClr val="000000"/>
                </a:solidFill>
                <a:latin typeface="Heebo ExtraLight"/>
              </a:rPr>
              <a:t>forecasting model generalization capability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안정성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평가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그래프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해석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: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선형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증가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형태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→ “stable error accumulation”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만약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SAC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였다면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곡선이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폭발적으로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증가했을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것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
Conv1D_BC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매우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안정적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구조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979900" y="6858000"/>
            <a:ext cx="4229100" cy="46736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각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horizon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다음을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시각화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: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과거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히스토리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(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파란색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)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True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미래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값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(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초록색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)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Predicted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값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(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빨간색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)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불확실성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(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예측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분산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영역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)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의미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: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Conv1D_BC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모델이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horizon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증가에도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불구하고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전체적인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방향성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유지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shape consistency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우수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
bias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일정하게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유지되어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drift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크지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않음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
→ forecasting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모델로서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실전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가능성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ExtraLight"/>
              </a:rPr>
              <a:t>확인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21000" y="3860800"/>
            <a:ext cx="18554700" cy="1308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333" b="true" i="false" u="none" strike="noStrike">
                <a:solidFill>
                  <a:srgbClr val="000000"/>
                </a:solidFill>
                <a:latin typeface="Heebo Regular"/>
              </a:rPr>
              <a:t>Forecasting visualization metrics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시각화는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단일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모델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(Conv1D + Behavior Cloning)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분석을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상세히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시각화한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것이다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.
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즉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,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모델이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실제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forecasting task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에서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어떻게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작동하는가를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전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과정에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걸쳐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시각적으로</a:t>
            </a:r>
            <a:r>
              <a:rPr lang="en-US" sz="2000" b="false" i="false" u="none" strike="noStrike">
                <a:solidFill>
                  <a:srgbClr val="000000"/>
                </a:solidFill>
                <a:latin typeface="Heebo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Heebo Regular"/>
              </a:rPr>
              <a:t>보여준다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06. Experiment Setup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p.30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63800" y="4648200"/>
            <a:ext cx="18808700" cy="56896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실험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순서</a:t>
            </a:r>
          </a:p>
          <a:p>
            <a:pPr algn="l" lvl="0">
              <a:lnSpc>
                <a:spcPct val="116199"/>
              </a:lnSpc>
            </a:pPr>
            <a:r>
              <a:rPr lang="en" sz="2666" b="false" i="false" u="none" strike="noStrike">
                <a:solidFill>
                  <a:srgbClr val="000000"/>
                </a:solidFill>
                <a:latin typeface="Heebo SemiBold"/>
              </a:rPr>
              <a:t>1. Target trajectory Extraction </a:t>
            </a:r>
          </a:p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(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현재는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에이전트가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시계열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데이터가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너무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역동적일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경우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,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패턴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모방을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잘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못하는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경향성을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보여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,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우선적으로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시계열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데이터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중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가장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smooth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한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구간을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추출한다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.)</a:t>
            </a:r>
          </a:p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2.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다양한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실험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카테고리별로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강화학습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진행</a:t>
            </a:r>
          </a:p>
          <a:p>
            <a:pPr algn="l" lvl="0">
              <a:lnSpc>
                <a:spcPct val="116199"/>
              </a:lnSpc>
            </a:pPr>
            <a:r>
              <a:rPr lang="en" sz="2666" b="false" i="false" u="none" strike="noStrike">
                <a:solidFill>
                  <a:srgbClr val="000000"/>
                </a:solidFill>
                <a:latin typeface="Heebo SemiBold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3.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실험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결과를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통해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  latent distance, reconstruction distance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를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고려하여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가장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적합한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하나의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세팅을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선정</a:t>
            </a:r>
          </a:p>
          <a:p>
            <a:pPr algn="l" lvl="0">
              <a:lnSpc>
                <a:spcPct val="116199"/>
              </a:lnSpc>
            </a:pPr>
            <a:r>
              <a:rPr lang="en" sz="2666" b="false" i="false" u="none" strike="noStrike">
                <a:solidFill>
                  <a:srgbClr val="000000"/>
                </a:solidFill>
                <a:latin typeface="Heebo SemiBold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4. 3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번에서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선정한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세팅을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바탕으로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Target trajectory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를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학습한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에이전트가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전체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시계열에서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학습된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정책을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바탕으로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Target trajectory pattern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과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가장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유사한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5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곳을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선정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(Active Discovery)</a:t>
            </a:r>
          </a:p>
          <a:p>
            <a:pPr algn="l" lvl="0">
              <a:lnSpc>
                <a:spcPct val="116199"/>
              </a:lnSpc>
            </a:pPr>
            <a:r>
              <a:rPr lang="en" sz="2666" b="false" i="false" u="none" strike="noStrike">
                <a:solidFill>
                  <a:srgbClr val="000000"/>
                </a:solidFill>
                <a:latin typeface="Heebo SemiBold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5. 5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곳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이후에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나온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trajectory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들을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(5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곳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)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새로운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학습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구간으로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삼아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agent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를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학습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(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패턴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모방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)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시키고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,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예측을</a:t>
            </a:r>
            <a:r>
              <a:rPr lang="en-US" sz="2666" b="false" i="false" u="none" strike="noStrike">
                <a:solidFill>
                  <a:srgbClr val="000000"/>
                </a:solidFill>
                <a:latin typeface="Heebo SemiBold"/>
              </a:rPr>
              <a:t> </a:t>
            </a:r>
            <a:r>
              <a:rPr lang="ko-KR" sz="2666" b="false" i="false" u="none" strike="noStrike">
                <a:solidFill>
                  <a:srgbClr val="000000"/>
                </a:solidFill>
                <a:ea typeface="Heebo SemiBold"/>
              </a:rPr>
              <a:t>진행한다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07.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p.31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03400" y="4648200"/>
            <a:ext cx="10388600" cy="7721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3195300" y="5080000"/>
            <a:ext cx="10363200" cy="5334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l" lvl="0">
              <a:lnSpc>
                <a:spcPct val="99600"/>
              </a:lnSpc>
            </a:pPr>
            <a:r>
              <a:rPr lang="en-US" sz="2874" b="false" i="false" u="none" strike="noStrike">
                <a:solidFill>
                  <a:srgbClr val="000000"/>
                </a:solidFill>
                <a:latin typeface="Heebo ExtraBold"/>
              </a:rPr>
              <a:t>1. Encoder Architecture </a:t>
            </a:r>
            <a:r>
              <a:rPr lang="ko-KR" sz="2874" b="false" i="false" u="none" strike="noStrike">
                <a:solidFill>
                  <a:srgbClr val="000000"/>
                </a:solidFill>
                <a:ea typeface="Heebo ExtraBold"/>
              </a:rPr>
              <a:t>실험</a:t>
            </a:r>
            <a:r>
              <a:rPr lang="en-US" sz="2874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2874" b="false" i="false" u="none" strike="noStrike">
                <a:solidFill>
                  <a:srgbClr val="000000"/>
                </a:solidFill>
                <a:ea typeface="Heebo ExtraBold"/>
              </a:rPr>
              <a:t>분석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5300" y="5588000"/>
            <a:ext cx="8839200" cy="73660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l" lvl="0">
              <a:lnSpc>
                <a:spcPct val="1078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 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최고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성능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(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낮을수록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좋음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):
1. Encoder_LSTM_BC</a:t>
            </a:r>
          </a:p>
          <a:p>
            <a:pPr algn="l" lvl="0">
              <a:lnSpc>
                <a:spcPct val="1078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2. Encoder_Conv1D_BC
3. Encoder_MLP_BC
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최악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성능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:
- Encoder_MLP_DEEP_SAC</a:t>
            </a:r>
          </a:p>
          <a:p>
            <a:pPr algn="l" lvl="0">
              <a:lnSpc>
                <a:spcPct val="1078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- Encoder_MLP_BASIC_SAC
- Encoder_Transformer_SAC
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:
- BC =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대부분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좋은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성능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(=low distance),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인코더에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상관없는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높은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성능을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보임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
- SAC =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대부분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distance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높음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-&gt;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불안정한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모방</a:t>
            </a:r>
          </a:p>
          <a:p>
            <a:pPr algn="l" lvl="0">
              <a:lnSpc>
                <a:spcPct val="1078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07.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p.32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03400" y="4648200"/>
            <a:ext cx="10388600" cy="7721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3195300" y="5080000"/>
            <a:ext cx="10363200" cy="5334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l" lvl="0">
              <a:lnSpc>
                <a:spcPct val="99600"/>
              </a:lnSpc>
            </a:pPr>
            <a:r>
              <a:rPr lang="en-US" sz="2874" b="false" i="false" u="none" strike="noStrike">
                <a:solidFill>
                  <a:srgbClr val="000000"/>
                </a:solidFill>
                <a:latin typeface="Heebo ExtraBold"/>
              </a:rPr>
              <a:t>2. Window Size </a:t>
            </a:r>
            <a:r>
              <a:rPr lang="ko-KR" sz="2874" b="false" i="false" u="none" strike="noStrike">
                <a:solidFill>
                  <a:srgbClr val="000000"/>
                </a:solidFill>
                <a:ea typeface="Heebo ExtraBold"/>
              </a:rPr>
              <a:t>실험</a:t>
            </a:r>
            <a:r>
              <a:rPr lang="en-US" sz="2874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2874" b="false" i="false" u="none" strike="noStrike">
                <a:solidFill>
                  <a:srgbClr val="000000"/>
                </a:solidFill>
                <a:ea typeface="Heebo ExtraBold"/>
              </a:rPr>
              <a:t>분석</a:t>
            </a:r>
            <a:r>
              <a:rPr lang="en-US" sz="2874" b="false" i="false" u="none" strike="noStrike">
                <a:solidFill>
                  <a:srgbClr val="000000"/>
                </a:solidFill>
                <a:latin typeface="Heebo ExtraBold"/>
              </a:rPr>
              <a:t>(48 &lt; 96 &lt; 192 &lt; 336 &lt; 512)
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5300" y="5588000"/>
            <a:ext cx="8839200" cy="48895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l" lvl="0">
              <a:lnSpc>
                <a:spcPct val="1078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ea typeface="Heebo ExtraLight"/>
              </a:rPr>
              <a:t>✔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성능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차이가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Encoder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실험보다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훨씬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적음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WindowSize 96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일때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성능이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대체로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떨어지는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모습을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보임</a:t>
            </a:r>
          </a:p>
          <a:p>
            <a:pPr algn="l" lvl="0">
              <a:lnSpc>
                <a:spcPct val="1078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ea typeface="Heebo ExtraLight"/>
              </a:rPr>
              <a:t>✔ Training Time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window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크기가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커질수록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비례하여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증가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그러나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96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에서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갑자기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전반적으로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작아지는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것을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보아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실험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환경에서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어떤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이슈가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발생한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것으로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보임</a:t>
            </a:r>
          </a:p>
          <a:p>
            <a:pPr algn="l" lvl="0">
              <a:lnSpc>
                <a:spcPct val="1078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
➡ 48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모든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성능을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고려했을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때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가장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나은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것으로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보임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07.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p.33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03400" y="4648200"/>
            <a:ext cx="10388600" cy="7721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3195300" y="5080000"/>
            <a:ext cx="10363200" cy="533400"/>
          </a:xfrm>
          <a:prstGeom prst="rect">
            <a:avLst/>
          </a:prstGeom>
        </p:spPr>
        <p:txBody>
          <a:bodyPr anchor="t" rtlCol="false" lIns="0" tIns="36507" rIns="0" bIns="0"/>
          <a:lstStyle/>
          <a:p>
            <a:pPr algn="l" lvl="0">
              <a:lnSpc>
                <a:spcPct val="99600"/>
              </a:lnSpc>
            </a:pPr>
            <a:r>
              <a:rPr lang="en-US" sz="2874" b="false" i="false" u="none" strike="noStrike">
                <a:solidFill>
                  <a:srgbClr val="000000"/>
                </a:solidFill>
                <a:latin typeface="Heebo ExtraBold"/>
              </a:rPr>
              <a:t>3. action scale </a:t>
            </a:r>
            <a:r>
              <a:rPr lang="ko-KR" sz="2874" b="false" i="false" u="none" strike="noStrike">
                <a:solidFill>
                  <a:srgbClr val="000000"/>
                </a:solidFill>
                <a:ea typeface="Heebo ExtraBold"/>
              </a:rPr>
              <a:t>실험</a:t>
            </a:r>
            <a:r>
              <a:rPr lang="en-US" sz="2874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2874" b="false" i="false" u="none" strike="noStrike">
                <a:solidFill>
                  <a:srgbClr val="000000"/>
                </a:solidFill>
                <a:ea typeface="Heebo ExtraBold"/>
              </a:rPr>
              <a:t>분석</a:t>
            </a:r>
            <a:br>
              <a:rPr lang="ko-KR" sz="2874" b="false" i="false" u="none" strike="noStrike">
                <a:solidFill>
                  <a:srgbClr val="000000"/>
                </a:solidFill>
                <a:ea typeface="Heebo ExtraBold"/>
              </a:rPr>
            </a:br>
          </a:p>
        </p:txBody>
      </p:sp>
      <p:sp>
        <p:nvSpPr>
          <p:cNvPr name="TextBox 9" id="9"/>
          <p:cNvSpPr txBox="true"/>
          <p:nvPr/>
        </p:nvSpPr>
        <p:spPr>
          <a:xfrm rot="0">
            <a:off x="13195300" y="5613400"/>
            <a:ext cx="8839200" cy="39116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l" lvl="0">
              <a:lnSpc>
                <a:spcPct val="1078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ea typeface="Heebo ExtraLight"/>
              </a:rPr>
              <a:t>✔ ActionScale ∈ {0.05, 0.10, 0.15, 0.20}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성능은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Recon MSE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제외하고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큰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차이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없음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다만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0.05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0.15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Recon MSE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높음는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느리고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안정적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0.05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불안정하며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Final Distance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높음</a:t>
            </a:r>
            <a:b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</a:b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ea typeface="Heebo ExtraLight"/>
              </a:rPr>
              <a:t>✔ Training Time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거의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동일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(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정책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네트워크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크기는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동일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)
➡ 0.15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가장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안정적인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선택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07.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p.34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03400" y="4648200"/>
            <a:ext cx="10388600" cy="7721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3195300" y="5080000"/>
            <a:ext cx="10363200" cy="5334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l" lvl="0">
              <a:lnSpc>
                <a:spcPct val="99600"/>
              </a:lnSpc>
            </a:pPr>
            <a:r>
              <a:rPr lang="en-US" sz="2874" b="false" i="false" u="none" strike="noStrike">
                <a:solidFill>
                  <a:srgbClr val="000000"/>
                </a:solidFill>
                <a:latin typeface="Heebo ExtraBold"/>
              </a:rPr>
              <a:t>4. Reward Weights </a:t>
            </a:r>
            <a:r>
              <a:rPr lang="ko-KR" sz="2874" b="false" i="false" u="none" strike="noStrike">
                <a:solidFill>
                  <a:srgbClr val="000000"/>
                </a:solidFill>
                <a:ea typeface="Heebo ExtraBold"/>
              </a:rPr>
              <a:t>실험</a:t>
            </a:r>
            <a:r>
              <a:rPr lang="en-US" sz="2874" b="false" i="false" u="none" strike="noStrike">
                <a:solidFill>
                  <a:srgbClr val="000000"/>
                </a:solidFill>
                <a:latin typeface="Heebo ExtraBold"/>
              </a:rPr>
              <a:t> (SAC </a:t>
            </a:r>
            <a:r>
              <a:rPr lang="ko-KR" sz="2874" b="false" i="false" u="none" strike="noStrike">
                <a:solidFill>
                  <a:srgbClr val="000000"/>
                </a:solidFill>
                <a:ea typeface="Heebo ExtraBold"/>
              </a:rPr>
              <a:t>전용</a:t>
            </a:r>
            <a:r>
              <a:rPr lang="en-US" sz="2874" b="false" i="false" u="none" strike="noStrike">
                <a:solidFill>
                  <a:srgbClr val="000000"/>
                </a:solidFill>
                <a:latin typeface="Heebo ExtraBold"/>
              </a:rPr>
              <a:t>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5300" y="5613400"/>
            <a:ext cx="8839200" cy="24638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l" lvl="0">
              <a:lnSpc>
                <a:spcPct val="1078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Latent Emphasis / Recon Emphasis / Balanced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비교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Balanced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Avg Distance / Recon MSE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모두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안정적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Recon Emphasis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trajectory tracking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나빠짐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Latent Emphasis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reconstruction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나빠짐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
➡ Balanced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가장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좋음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07.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p.35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03400" y="4648200"/>
            <a:ext cx="10388600" cy="7721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3195300" y="5080000"/>
            <a:ext cx="10363200" cy="5715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l" lvl="0">
              <a:lnSpc>
                <a:spcPct val="99600"/>
              </a:lnSpc>
            </a:pPr>
            <a:r>
              <a:rPr lang="en-US" sz="2874" b="false" i="false" u="none" strike="noStrike">
                <a:solidFill>
                  <a:srgbClr val="000000"/>
                </a:solidFill>
                <a:latin typeface="Heebo ExtraBold"/>
              </a:rPr>
              <a:t>5. Latent Dimension </a:t>
            </a:r>
            <a:r>
              <a:rPr lang="ko-KR" sz="2874" b="false" i="false" u="none" strike="noStrike">
                <a:solidFill>
                  <a:srgbClr val="000000"/>
                </a:solidFill>
                <a:ea typeface="Heebo ExtraBold"/>
              </a:rPr>
              <a:t>실험</a:t>
            </a:r>
            <a:r>
              <a:rPr lang="en-US" sz="2874" b="fals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2874" b="false" i="false" u="none" strike="noStrike">
                <a:solidFill>
                  <a:srgbClr val="000000"/>
                </a:solidFill>
                <a:ea typeface="Heebo ExtraBold"/>
              </a:rPr>
              <a:t>분석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5300" y="5613400"/>
            <a:ext cx="8839200" cy="43942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l" lvl="0">
              <a:lnSpc>
                <a:spcPct val="1078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ea typeface="Heebo ExtraLight"/>
              </a:rPr>
              <a:t>✔ LatentDim ∈ {16, 32, 64}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Latent 16: 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가장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안정적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Latent 32: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성능이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가장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나쁨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(Final Dist ↑, MSE ↑)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Latent 64: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약간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좋은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듯하지만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시간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증가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
➡ latent_dim=16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가장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적절한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선택</a:t>
            </a:r>
          </a:p>
          <a:p>
            <a:pPr algn="l" lvl="0">
              <a:lnSpc>
                <a:spcPct val="1078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부분은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에이전트가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학습하는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것에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있어서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표현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차원의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고도화가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오히려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포착에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있어서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어려움이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있어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, distance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길어진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것으로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말할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있음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07.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p.36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03400" y="4648200"/>
            <a:ext cx="10388600" cy="7721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3195300" y="5080000"/>
            <a:ext cx="10363200" cy="508000"/>
          </a:xfrm>
          <a:prstGeom prst="rect">
            <a:avLst/>
          </a:prstGeom>
        </p:spPr>
        <p:txBody>
          <a:bodyPr anchor="t" rtlCol="false" lIns="0" tIns="36507" rIns="0" bIns="0"/>
          <a:lstStyle/>
          <a:p>
            <a:pPr algn="l" lvl="0">
              <a:lnSpc>
                <a:spcPct val="99600"/>
              </a:lnSpc>
            </a:pPr>
            <a:r>
              <a:rPr lang="ko-KR" sz="2874" b="true" i="false" u="none" strike="noStrike">
                <a:solidFill>
                  <a:srgbClr val="000000"/>
                </a:solidFill>
                <a:ea typeface="Heebo ExtraBold"/>
              </a:rPr>
              <a:t>최종</a:t>
            </a:r>
            <a:r>
              <a:rPr lang="en-US" sz="2874" b="true" i="false" u="none" strike="noStrike">
                <a:solidFill>
                  <a:srgbClr val="000000"/>
                </a:solidFill>
                <a:latin typeface="Heebo ExtraBold"/>
              </a:rPr>
              <a:t> </a:t>
            </a:r>
            <a:r>
              <a:rPr lang="ko-KR" sz="2874" b="true" i="false" u="none" strike="noStrike">
                <a:solidFill>
                  <a:srgbClr val="000000"/>
                </a:solidFill>
                <a:ea typeface="Heebo ExtraBold"/>
              </a:rPr>
              <a:t>결론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5300" y="5613400"/>
            <a:ext cx="8839200" cy="63373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l" lvl="0">
              <a:lnSpc>
                <a:spcPct val="107899"/>
              </a:lnSpc>
            </a:pP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모든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평가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척도를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기반으로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 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SAC method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보다는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BC method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훨씬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작동하는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것을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확인할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있음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Econder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종류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역시도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성능적인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측면에서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차이가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존재함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. LSTM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모든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지표에서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좋은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결과를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보임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action scale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자체는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성능차이가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존재하지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않음</a:t>
            </a: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Reward weight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SAC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방법에서만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실험을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진행할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있기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때문에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,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기본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성능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자체가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매우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낮음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.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그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중에서도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Latent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조합일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경우가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최악의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성능을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보이는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것을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확인할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있음</a:t>
            </a:r>
          </a:p>
          <a:p>
            <a:pPr algn="l" lvl="0">
              <a:lnSpc>
                <a:spcPct val="1078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가장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최적의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결과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조합에서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두번째인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Encoder_Conv1D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사용하여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forecasting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진행한다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. 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07.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p.37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10400" y="4648200"/>
            <a:ext cx="10363200" cy="508000"/>
          </a:xfrm>
          <a:prstGeom prst="rect">
            <a:avLst/>
          </a:prstGeom>
        </p:spPr>
        <p:txBody>
          <a:bodyPr anchor="t" rtlCol="false" lIns="0" tIns="36507" rIns="0" bIns="0"/>
          <a:lstStyle/>
          <a:p>
            <a:pPr algn="ctr" lvl="0">
              <a:lnSpc>
                <a:spcPct val="99600"/>
              </a:lnSpc>
            </a:pPr>
            <a:r>
              <a:rPr lang="en" sz="2874" b="true" i="false" u="none" strike="noStrike">
                <a:solidFill>
                  <a:srgbClr val="000000"/>
                </a:solidFill>
                <a:latin typeface="Heebo ExtraBold"/>
              </a:rPr>
              <a:t>Forecasting anlysis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30800" y="5308600"/>
            <a:ext cx="14122400" cy="20066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ctr" lvl="0">
              <a:lnSpc>
                <a:spcPct val="107899"/>
              </a:lnSpc>
            </a:pPr>
            <a:r>
              <a:rPr lang="en" sz="2933" b="true" i="false" u="none" strike="noStrike">
                <a:solidFill>
                  <a:srgbClr val="000000"/>
                </a:solidFill>
                <a:latin typeface="Heebo ExtraLight"/>
              </a:rPr>
              <a:t>Agent-Discovered Patterns</a:t>
            </a:r>
          </a:p>
          <a:p>
            <a:pPr algn="ctr" lvl="0">
              <a:lnSpc>
                <a:spcPct val="107899"/>
              </a:lnSpc>
            </a:pPr>
            <a:r>
              <a:rPr lang="en" sz="2933" b="tru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ctr" lvl="0">
              <a:lnSpc>
                <a:spcPct val="107899"/>
              </a:lnSpc>
            </a:pP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앞에서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teacher trajectory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모방하는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것을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목표로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학습한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agent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사용하여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,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전체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시계열을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대상으로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Active Discovery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를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했을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때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, 5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곳에서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일치도가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높은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구간을</a:t>
            </a:r>
            <a:r>
              <a:rPr lang="en-US" sz="29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Heebo ExtraLight"/>
              </a:rPr>
              <a:t>발견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187700" y="7480300"/>
            <a:ext cx="18008600" cy="29083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6146800" y="10769600"/>
            <a:ext cx="5651500" cy="26670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발견된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분석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: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Teacher (navy):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기준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Pattern 1 (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보라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): Conf=0.954 ⭐⭐⭐⭐⭐ (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최고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)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Pattern 2 (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하늘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): Conf=0.946 ⭐⭐⭐⭐⭐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Pattern 3 (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초록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): Conf=0.906 ⭐⭐⭐⭐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Pattern 4 (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빨강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): Conf=0.869 ⭐⭐⭐⭐</a:t>
            </a:r>
          </a:p>
          <a:p>
            <a:pPr algn="l" lvl="2" indent="-342900" marL="596900">
              <a:lnSpc>
                <a:spcPct val="1078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Pattern 5 (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주황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): Conf=0.843 ⭐⭐⭐
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39900" y="10553700"/>
            <a:ext cx="5816600" cy="20066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l" lvl="0">
              <a:lnSpc>
                <a:spcPct val="107899"/>
              </a:lnSpc>
            </a:pPr>
            <a:br>
              <a:rPr/>
            </a:br>
          </a:p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특성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:
✓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시계열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전체에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고르게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분산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(5000~14000)
✓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모든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패턴이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높은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confidence (0.84+)
✓ Teacher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와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유사한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변동성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
✓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다양한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시점에서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발견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→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일반화</a:t>
            </a:r>
            <a:r>
              <a:rPr lang="en-US" sz="20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Heebo ExtraLight"/>
              </a:rPr>
              <a:t>능력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07.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p.38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10400" y="4648200"/>
            <a:ext cx="10363200" cy="508000"/>
          </a:xfrm>
          <a:prstGeom prst="rect">
            <a:avLst/>
          </a:prstGeom>
        </p:spPr>
        <p:txBody>
          <a:bodyPr anchor="t" rtlCol="false" lIns="0" tIns="36507" rIns="0" bIns="0"/>
          <a:lstStyle/>
          <a:p>
            <a:pPr algn="ctr" lvl="0">
              <a:lnSpc>
                <a:spcPct val="99600"/>
              </a:lnSpc>
            </a:pPr>
            <a:r>
              <a:rPr lang="en" sz="2874" b="true" i="false" u="none" strike="noStrike">
                <a:solidFill>
                  <a:srgbClr val="000000"/>
                </a:solidFill>
                <a:latin typeface="Heebo ExtraBold"/>
              </a:rPr>
              <a:t>Forecasting anlysis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30800" y="5308600"/>
            <a:ext cx="14122400" cy="5715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ctr" lvl="0">
              <a:lnSpc>
                <a:spcPct val="107899"/>
              </a:lnSpc>
            </a:pPr>
            <a:r>
              <a:rPr lang="en" sz="2933" b="true" i="false" u="none" strike="noStrike">
                <a:solidFill>
                  <a:srgbClr val="000000"/>
                </a:solidFill>
                <a:latin typeface="Heebo ExtraLight"/>
              </a:rPr>
              <a:t>Pattern Confidence &amp; Agent Performance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6700" y="6629400"/>
            <a:ext cx="5638800" cy="2311400"/>
          </a:xfrm>
          <a:prstGeom prst="rect">
            <a:avLst/>
          </a:prstGeom>
        </p:spPr>
        <p:txBody>
          <a:bodyPr anchor="t" rtlCol="false" lIns="0" tIns="11007" rIns="0" bIns="0"/>
          <a:lstStyle/>
          <a:p>
            <a:pPr algn="l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순위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:
P1: 0.954  (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가장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익숙한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)
P2: 0.946 
P3: 0.906 
P4: 0.869
P5: 0.843
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평균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 confidence: 0.904 → 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매우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높음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697700" y="6197600"/>
            <a:ext cx="5803900" cy="3175000"/>
          </a:xfrm>
          <a:prstGeom prst="rect">
            <a:avLst/>
          </a:prstGeom>
        </p:spPr>
        <p:txBody>
          <a:bodyPr anchor="t" rtlCol="false" lIns="0" tIns="11007" rIns="0" bIns="0"/>
          <a:lstStyle/>
          <a:p>
            <a:pPr algn="l" lvl="0">
              <a:lnSpc>
                <a:spcPct val="107899"/>
              </a:lnSpc>
            </a:pP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Tracking Error:
P5: 0.186  (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가장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못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따라감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)
P4: 0.150 ⚠
P3: 0.102 ⚠
P2: 0.056 
P1: 0.048  (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가장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잘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따라감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)
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:
✓ Confidence 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높을수록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 Tracking Error 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낮음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
✓ P1, P2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거의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완벽하게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추적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
✓ P5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는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상대적으로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어려움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 (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하지만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여전히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사용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가능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)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21200" y="6032500"/>
            <a:ext cx="14973300" cy="34925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5130800" y="10007600"/>
            <a:ext cx="14122400" cy="15367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ctr" lvl="0">
              <a:lnSpc>
                <a:spcPct val="107899"/>
              </a:lnSpc>
            </a:pPr>
            <a:r>
              <a:rPr lang="en-US" sz="2933" b="true" i="false" u="none" strike="noStrike">
                <a:solidFill>
                  <a:srgbClr val="000000"/>
                </a:solidFill>
                <a:latin typeface="Heebo ExtraLight"/>
              </a:rPr>
              <a:t>Confidence</a:t>
            </a:r>
            <a:r>
              <a:rPr lang="ko-KR" sz="2933" b="true" i="false" u="none" strike="noStrike">
                <a:solidFill>
                  <a:srgbClr val="000000"/>
                </a:solidFill>
                <a:ea typeface="Heebo ExtraLight"/>
              </a:rPr>
              <a:t>와</a:t>
            </a:r>
            <a:r>
              <a:rPr lang="en-US" sz="2933" b="true" i="false" u="none" strike="noStrike">
                <a:solidFill>
                  <a:srgbClr val="000000"/>
                </a:solidFill>
                <a:latin typeface="Heebo ExtraLight"/>
              </a:rPr>
              <a:t> Tracking Error</a:t>
            </a:r>
            <a:r>
              <a:rPr lang="ko-KR" sz="2933" b="true" i="false" u="none" strike="noStrike">
                <a:solidFill>
                  <a:srgbClr val="000000"/>
                </a:solidFill>
                <a:ea typeface="Heebo ExtraLight"/>
              </a:rPr>
              <a:t>의</a:t>
            </a:r>
            <a:r>
              <a:rPr lang="en-US" sz="29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true" i="false" u="none" strike="noStrike">
                <a:solidFill>
                  <a:srgbClr val="000000"/>
                </a:solidFill>
                <a:ea typeface="Heebo ExtraLight"/>
              </a:rPr>
              <a:t>역상관관계</a:t>
            </a:r>
            <a:r>
              <a:rPr lang="en-US" sz="2933" b="true" i="false" u="none" strike="noStrike">
                <a:solidFill>
                  <a:srgbClr val="000000"/>
                </a:solidFill>
                <a:latin typeface="Heebo ExtraLight"/>
              </a:rPr>
              <a:t>:
→ Confidence metric</a:t>
            </a:r>
            <a:r>
              <a:rPr lang="ko-KR" sz="2933" b="true" i="false" u="none" strike="noStrike">
                <a:solidFill>
                  <a:srgbClr val="000000"/>
                </a:solidFill>
                <a:ea typeface="Heebo ExtraLight"/>
              </a:rPr>
              <a:t>이</a:t>
            </a:r>
            <a:r>
              <a:rPr lang="en-US" sz="29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true" i="false" u="none" strike="noStrike">
                <a:solidFill>
                  <a:srgbClr val="000000"/>
                </a:solidFill>
                <a:ea typeface="Heebo ExtraLight"/>
              </a:rPr>
              <a:t>유효함을</a:t>
            </a:r>
            <a:r>
              <a:rPr lang="en-US" sz="29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true" i="false" u="none" strike="noStrike">
                <a:solidFill>
                  <a:srgbClr val="000000"/>
                </a:solidFill>
                <a:ea typeface="Heebo ExtraLight"/>
              </a:rPr>
              <a:t>증명</a:t>
            </a:r>
            <a:r>
              <a:rPr lang="en-US" sz="2933" b="true" i="false" u="none" strike="noStrike">
                <a:solidFill>
                  <a:srgbClr val="000000"/>
                </a:solidFill>
                <a:latin typeface="Heebo ExtraLight"/>
              </a:rPr>
              <a:t>
→ Agent</a:t>
            </a:r>
            <a:r>
              <a:rPr lang="ko-KR" sz="2933" b="true" i="false" u="none" strike="noStrike">
                <a:solidFill>
                  <a:srgbClr val="000000"/>
                </a:solidFill>
                <a:ea typeface="Heebo ExtraLight"/>
              </a:rPr>
              <a:t>가</a:t>
            </a:r>
            <a:r>
              <a:rPr lang="en-US" sz="29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true" i="false" u="none" strike="noStrike">
                <a:solidFill>
                  <a:srgbClr val="000000"/>
                </a:solidFill>
                <a:ea typeface="Heebo ExtraLight"/>
              </a:rPr>
              <a:t>자신의</a:t>
            </a:r>
            <a:r>
              <a:rPr lang="en-US" sz="29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true" i="false" u="none" strike="noStrike">
                <a:solidFill>
                  <a:srgbClr val="000000"/>
                </a:solidFill>
                <a:ea typeface="Heebo ExtraLight"/>
              </a:rPr>
              <a:t>능력을</a:t>
            </a:r>
            <a:r>
              <a:rPr lang="en-US" sz="29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true" i="false" u="none" strike="noStrike">
                <a:solidFill>
                  <a:srgbClr val="000000"/>
                </a:solidFill>
                <a:ea typeface="Heebo ExtraLight"/>
              </a:rPr>
              <a:t>정확히</a:t>
            </a:r>
            <a:r>
              <a:rPr lang="en-US" sz="29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true" i="false" u="none" strike="noStrike">
                <a:solidFill>
                  <a:srgbClr val="000000"/>
                </a:solidFill>
                <a:ea typeface="Heebo ExtraLight"/>
              </a:rPr>
              <a:t>평가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07.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p.39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10400" y="4648200"/>
            <a:ext cx="10363200" cy="508000"/>
          </a:xfrm>
          <a:prstGeom prst="rect">
            <a:avLst/>
          </a:prstGeom>
        </p:spPr>
        <p:txBody>
          <a:bodyPr anchor="t" rtlCol="false" lIns="0" tIns="36507" rIns="0" bIns="0"/>
          <a:lstStyle/>
          <a:p>
            <a:pPr algn="ctr" lvl="0">
              <a:lnSpc>
                <a:spcPct val="99600"/>
              </a:lnSpc>
            </a:pPr>
            <a:r>
              <a:rPr lang="en" sz="2874" b="true" i="false" u="none" strike="noStrike">
                <a:solidFill>
                  <a:srgbClr val="000000"/>
                </a:solidFill>
                <a:latin typeface="Heebo ExtraBold"/>
              </a:rPr>
              <a:t>Forecasting anlysis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30800" y="5308600"/>
            <a:ext cx="14122400" cy="5715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ctr" lvl="0">
              <a:lnSpc>
                <a:spcPct val="107899"/>
              </a:lnSpc>
            </a:pPr>
            <a:r>
              <a:rPr lang="en" sz="2933" b="true" i="false" u="none" strike="noStrike">
                <a:solidFill>
                  <a:srgbClr val="000000"/>
                </a:solidFill>
                <a:latin typeface="Heebo ExtraLight"/>
              </a:rPr>
              <a:t>Performance vs Horizon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7600" y="7061200"/>
            <a:ext cx="5638800" cy="1765300"/>
          </a:xfrm>
          <a:prstGeom prst="rect">
            <a:avLst/>
          </a:prstGeom>
        </p:spPr>
        <p:txBody>
          <a:bodyPr anchor="t" rtlCol="false" lIns="0" tIns="11007" rIns="0" bIns="0"/>
          <a:lstStyle/>
          <a:p>
            <a:pPr algn="r" lvl="1" indent="-342900" marL="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MSE (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빨간색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):
H=5:  0.073
H=10: 0.093 (+27%)
H=15: 0.110 (+18%)
H=20: 0.130 (+18%)
H=30: 0.177 (+36%)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62400" y="6858000"/>
            <a:ext cx="5803900" cy="1765300"/>
          </a:xfrm>
          <a:prstGeom prst="rect">
            <a:avLst/>
          </a:prstGeom>
        </p:spPr>
        <p:txBody>
          <a:bodyPr anchor="t" rtlCol="false" lIns="0" tIns="11007" rIns="0" bIns="0"/>
          <a:lstStyle/>
          <a:p>
            <a:pPr algn="l" lvl="0">
              <a:lnSpc>
                <a:spcPct val="107899"/>
              </a:lnSpc>
            </a:pP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MAE (</a:t>
            </a:r>
            <a:r>
              <a:rPr lang="ko-KR" sz="1733" b="true" i="false" u="none" strike="noStrike">
                <a:solidFill>
                  <a:srgbClr val="000000"/>
                </a:solidFill>
                <a:ea typeface="Heebo ExtraLight"/>
              </a:rPr>
              <a:t>주황색</a:t>
            </a:r>
            <a:r>
              <a:rPr lang="en-US" sz="1733" b="true" i="false" u="none" strike="noStrike">
                <a:solidFill>
                  <a:srgbClr val="000000"/>
                </a:solidFill>
                <a:latin typeface="Heebo ExtraLight"/>
              </a:rPr>
              <a:t>):
H=5:  0.239
H=10: 0.272 (+14%)
H=15: 0.299 (+10%)
H=20: 0.326 (+9%)
H=30: 0.377 (+16%)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026400" y="6032500"/>
            <a:ext cx="8343900" cy="34925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5181600" y="9690100"/>
            <a:ext cx="14109700" cy="4483100"/>
          </a:xfrm>
          <a:prstGeom prst="rect">
            <a:avLst/>
          </a:prstGeom>
        </p:spPr>
        <p:txBody>
          <a:bodyPr anchor="t" rtlCol="false" lIns="0" tIns="15240" rIns="0" bIns="0"/>
          <a:lstStyle/>
          <a:p>
            <a:pPr algn="ctr" lvl="0">
              <a:lnSpc>
                <a:spcPct val="107899"/>
              </a:lnSpc>
            </a:pP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Growth Rate Analysis:
✓ H=5→10: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선형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증가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(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양호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)
✓ H=10→20: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일정한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증가율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(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우수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)
✓ H=20→30: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약간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가속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(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예상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범위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)</a:t>
            </a:r>
          </a:p>
          <a:p>
            <a:pPr algn="ctr" lvl="0">
              <a:lnSpc>
                <a:spcPct val="107899"/>
              </a:lnSpc>
            </a:pPr>
            <a:r>
              <a:rPr lang="en" sz="2400" b="tru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ctr" lvl="0">
              <a:lnSpc>
                <a:spcPct val="107899"/>
              </a:lnSpc>
            </a:pP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단기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예측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(H=5):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매우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우수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
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중기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예측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(H=10-20):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안정적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
⚠ 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장기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예측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(H=30):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에러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증가하지만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관리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가능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
→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실용적으로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H=20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까지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사용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가능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!</a:t>
            </a:r>
          </a:p>
          <a:p>
            <a:pPr algn="ctr" lvl="0">
              <a:lnSpc>
                <a:spcPct val="107899"/>
              </a:lnSpc>
            </a:pPr>
            <a:r>
              <a:rPr lang="en" sz="2666" b="tru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ctr" lvl="0">
              <a:lnSpc>
                <a:spcPct val="107899"/>
              </a:lnSpc>
            </a:pPr>
            <a:r>
              <a:rPr lang="en" sz="2666" b="tru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07.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p.40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10400" y="4648200"/>
            <a:ext cx="10363200" cy="508000"/>
          </a:xfrm>
          <a:prstGeom prst="rect">
            <a:avLst/>
          </a:prstGeom>
        </p:spPr>
        <p:txBody>
          <a:bodyPr anchor="t" rtlCol="false" lIns="0" tIns="36507" rIns="0" bIns="0"/>
          <a:lstStyle/>
          <a:p>
            <a:pPr algn="ctr" lvl="0">
              <a:lnSpc>
                <a:spcPct val="99600"/>
              </a:lnSpc>
            </a:pPr>
            <a:r>
              <a:rPr lang="en" sz="2874" b="true" i="false" u="none" strike="noStrike">
                <a:solidFill>
                  <a:srgbClr val="000000"/>
                </a:solidFill>
                <a:latin typeface="Heebo ExtraBold"/>
              </a:rPr>
              <a:t>Forecasting anlysis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30800" y="5308600"/>
            <a:ext cx="14122400" cy="5715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ctr" lvl="0">
              <a:lnSpc>
                <a:spcPct val="107899"/>
              </a:lnSpc>
            </a:pPr>
            <a:r>
              <a:rPr lang="en" sz="2933" b="true" i="false" u="none" strike="noStrike">
                <a:solidFill>
                  <a:srgbClr val="000000"/>
                </a:solidFill>
                <a:latin typeface="Heebo ExtraLight"/>
              </a:rPr>
              <a:t>Detailed Forecasts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93900" y="6781800"/>
            <a:ext cx="8470900" cy="5270500"/>
          </a:xfrm>
          <a:prstGeom prst="rect">
            <a:avLst/>
          </a:prstGeom>
        </p:spPr>
        <p:txBody>
          <a:bodyPr anchor="t" rtlCol="false" lIns="0" tIns="15240" rIns="0" bIns="0"/>
          <a:lstStyle/>
          <a:p>
            <a:pPr algn="ctr" lvl="0">
              <a:lnSpc>
                <a:spcPct val="107899"/>
              </a:lnSpc>
            </a:pPr>
            <a:r>
              <a:rPr lang="en" sz="2399" b="true" i="false" u="none" strike="noStrike">
                <a:solidFill>
                  <a:srgbClr val="000000"/>
                </a:solidFill>
                <a:latin typeface="Heebo ExtraLight"/>
              </a:rPr>
              <a:t>Horizon 5 </a:t>
            </a:r>
          </a:p>
          <a:p>
            <a:pPr algn="ctr" lvl="0">
              <a:lnSpc>
                <a:spcPct val="107899"/>
              </a:lnSpc>
            </a:pP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MSE=0.0736, MAE=0.2386
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관찰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:
✓ 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예측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(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빨강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)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이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진실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(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초록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)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을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잘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추적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
✓ Error shading(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분홍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)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이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작음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
✓ 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초기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몇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 step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은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거의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완벽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
Step 1 Detail:
- Window 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내부에서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잘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맞음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
- 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약간의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 amplitude 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차이만</a:t>
            </a:r>
            <a:r>
              <a:rPr lang="en-US" sz="2399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399" b="true" i="false" u="none" strike="noStrike">
                <a:solidFill>
                  <a:srgbClr val="000000"/>
                </a:solidFill>
                <a:ea typeface="Heebo ExtraLight"/>
              </a:rPr>
              <a:t>존재</a:t>
            </a:r>
          </a:p>
          <a:p>
            <a:pPr algn="ctr" lvl="0">
              <a:lnSpc>
                <a:spcPct val="107899"/>
              </a:lnSpc>
            </a:pPr>
            <a:r>
              <a:rPr lang="en" sz="2666" b="tru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ctr" lvl="0">
              <a:lnSpc>
                <a:spcPct val="107899"/>
              </a:lnSpc>
            </a:pPr>
            <a:r>
              <a:rPr lang="en" sz="2666" b="tru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19300" y="6197600"/>
            <a:ext cx="101727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07.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p.41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10400" y="4648200"/>
            <a:ext cx="10363200" cy="508000"/>
          </a:xfrm>
          <a:prstGeom prst="rect">
            <a:avLst/>
          </a:prstGeom>
        </p:spPr>
        <p:txBody>
          <a:bodyPr anchor="t" rtlCol="false" lIns="0" tIns="36507" rIns="0" bIns="0"/>
          <a:lstStyle/>
          <a:p>
            <a:pPr algn="ctr" lvl="0">
              <a:lnSpc>
                <a:spcPct val="99600"/>
              </a:lnSpc>
            </a:pPr>
            <a:r>
              <a:rPr lang="en" sz="2874" b="true" i="false" u="none" strike="noStrike">
                <a:solidFill>
                  <a:srgbClr val="000000"/>
                </a:solidFill>
                <a:latin typeface="Heebo ExtraBold"/>
              </a:rPr>
              <a:t>Forecasting anlysis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30800" y="5308600"/>
            <a:ext cx="14122400" cy="5715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ctr" lvl="0">
              <a:lnSpc>
                <a:spcPct val="107899"/>
              </a:lnSpc>
            </a:pPr>
            <a:r>
              <a:rPr lang="en" sz="2933" b="true" i="false" u="none" strike="noStrike">
                <a:solidFill>
                  <a:srgbClr val="000000"/>
                </a:solidFill>
                <a:latin typeface="Heebo ExtraLight"/>
              </a:rPr>
              <a:t>Detailed Forecasts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81000" y="6616700"/>
            <a:ext cx="8470900" cy="5702300"/>
          </a:xfrm>
          <a:prstGeom prst="rect">
            <a:avLst/>
          </a:prstGeom>
        </p:spPr>
        <p:txBody>
          <a:bodyPr anchor="t" rtlCol="false" lIns="0" tIns="15240" rIns="0" bIns="0"/>
          <a:lstStyle/>
          <a:p>
            <a:pPr algn="ctr" lvl="0">
              <a:lnSpc>
                <a:spcPct val="107899"/>
              </a:lnSpc>
            </a:pPr>
            <a:r>
              <a:rPr lang="en" sz="2400" b="true" i="false" u="none" strike="noStrike">
                <a:solidFill>
                  <a:srgbClr val="000000"/>
                </a:solidFill>
                <a:latin typeface="Heebo ExtraLight"/>
              </a:rPr>
              <a:t>Horizon 15</a:t>
            </a:r>
          </a:p>
          <a:p>
            <a:pPr algn="ctr" lvl="0">
              <a:lnSpc>
                <a:spcPct val="107899"/>
              </a:lnSpc>
            </a:pP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MSE=0.1100, MAE=0.2994
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관찰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:
✓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전반적인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추세는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잘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따라감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
⚠ Error shading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이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점점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커짐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
⚠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후반부에서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약간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발산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시작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
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특징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:
-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초기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: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거의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완벽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
-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중반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: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양호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
-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후반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: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약간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떨어짐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(but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추세는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400" b="true" i="false" u="none" strike="noStrike">
                <a:solidFill>
                  <a:srgbClr val="000000"/>
                </a:solidFill>
                <a:ea typeface="Heebo ExtraLight"/>
              </a:rPr>
              <a:t>유지</a:t>
            </a:r>
            <a:r>
              <a:rPr lang="en-US" sz="2400" b="true" i="false" u="none" strike="noStrike">
                <a:solidFill>
                  <a:srgbClr val="000000"/>
                </a:solidFill>
                <a:latin typeface="Heebo ExtraLight"/>
              </a:rPr>
              <a:t>)</a:t>
            </a:r>
          </a:p>
          <a:p>
            <a:pPr algn="ctr" lvl="0">
              <a:lnSpc>
                <a:spcPct val="107899"/>
              </a:lnSpc>
            </a:pPr>
            <a:r>
              <a:rPr lang="en" sz="2666" b="tru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ctr" lvl="0">
              <a:lnSpc>
                <a:spcPct val="107899"/>
              </a:lnSpc>
            </a:pPr>
            <a:r>
              <a:rPr lang="en" sz="2666" b="tru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463800" y="6032500"/>
            <a:ext cx="101727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3487400" cy="25654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07.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p.42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10400" y="4648200"/>
            <a:ext cx="10363200" cy="508000"/>
          </a:xfrm>
          <a:prstGeom prst="rect">
            <a:avLst/>
          </a:prstGeom>
        </p:spPr>
        <p:txBody>
          <a:bodyPr anchor="t" rtlCol="false" lIns="0" tIns="36507" rIns="0" bIns="0"/>
          <a:lstStyle/>
          <a:p>
            <a:pPr algn="ctr" lvl="0">
              <a:lnSpc>
                <a:spcPct val="99600"/>
              </a:lnSpc>
            </a:pPr>
            <a:r>
              <a:rPr lang="en" sz="2874" b="true" i="false" u="none" strike="noStrike">
                <a:solidFill>
                  <a:srgbClr val="000000"/>
                </a:solidFill>
                <a:latin typeface="Heebo ExtraBold"/>
              </a:rPr>
              <a:t>Forecasting anlysis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30800" y="5308600"/>
            <a:ext cx="14122400" cy="5588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ctr" lvl="0">
              <a:lnSpc>
                <a:spcPct val="107899"/>
              </a:lnSpc>
            </a:pPr>
            <a:r>
              <a:rPr lang="en-US" sz="29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true" i="false" u="none" strike="noStrike">
                <a:solidFill>
                  <a:srgbClr val="000000"/>
                </a:solidFill>
                <a:ea typeface="Heebo ExtraLight"/>
              </a:rPr>
              <a:t>최종</a:t>
            </a:r>
            <a:r>
              <a:rPr lang="en-US" sz="2933" b="tru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933" b="true" i="false" u="none" strike="noStrike">
                <a:solidFill>
                  <a:srgbClr val="000000"/>
                </a:solidFill>
                <a:ea typeface="Heebo ExtraLight"/>
              </a:rPr>
              <a:t>결론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4200" y="6019800"/>
            <a:ext cx="9156700" cy="7696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61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강점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(Strengths)</a:t>
            </a:r>
          </a:p>
          <a:p>
            <a:pPr algn="l" lvl="0">
              <a:lnSpc>
                <a:spcPct val="116199"/>
              </a:lnSpc>
            </a:pPr>
            <a:r>
              <a:rPr lang="en" sz="2061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Active Discovery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성공</a:t>
            </a:r>
          </a:p>
          <a:p>
            <a:pPr algn="l" lvl="2" indent="-342900" marL="604647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5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개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고품질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패턴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발견</a:t>
            </a:r>
          </a:p>
          <a:p>
            <a:pPr algn="l" lvl="2" indent="-342900" marL="604647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평균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confidence 0.904 (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매우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높음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algn="l" lvl="2" indent="-342900" marL="604647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시계열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전체에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분산</a:t>
            </a:r>
          </a:p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단기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예측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우수</a:t>
            </a:r>
          </a:p>
          <a:p>
            <a:pPr algn="l" lvl="2" indent="-342900" marL="604647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H=5: MSE 0.073 →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실용적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수준</a:t>
            </a:r>
          </a:p>
          <a:p>
            <a:pPr algn="l" lvl="2" indent="-342900" marL="604647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H=10: MSE 0.093 →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여전히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양호</a:t>
            </a:r>
          </a:p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안정적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에러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증가</a:t>
            </a:r>
          </a:p>
          <a:p>
            <a:pPr algn="l" lvl="2" indent="-342900" marL="604647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폭발적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증가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없음</a:t>
            </a:r>
          </a:p>
          <a:p>
            <a:pPr algn="l" lvl="2" indent="-342900" marL="604647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선형에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가까운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growth rate</a:t>
            </a:r>
          </a:p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Confidence Metric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유효성</a:t>
            </a:r>
          </a:p>
          <a:p>
            <a:pPr algn="l" lvl="2" indent="-342900" marL="604647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Confidence ↔ Tracking Error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역상관</a:t>
            </a:r>
          </a:p>
          <a:p>
            <a:pPr algn="l" lvl="2" indent="-342900" marL="604647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Agent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가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자기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평가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정확</a:t>
            </a:r>
          </a:p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Conv1D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적합성</a:t>
            </a:r>
          </a:p>
          <a:p>
            <a:pPr algn="l" lvl="2" indent="-342900" marL="604647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시계열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local pattern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잘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포착</a:t>
            </a:r>
          </a:p>
          <a:p>
            <a:pPr algn="l" lvl="2" indent="-342900" marL="604647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BC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학습</a:t>
            </a:r>
            <a:r>
              <a:rPr lang="en-US" sz="2061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61" b="false" i="false" u="none" strike="noStrike">
                <a:solidFill>
                  <a:srgbClr val="000000"/>
                </a:solidFill>
                <a:ea typeface="Pretendard Regular"/>
              </a:rPr>
              <a:t>안정적</a:t>
            </a:r>
          </a:p>
          <a:p>
            <a:pPr algn="l" lvl="0">
              <a:lnSpc>
                <a:spcPct val="116199"/>
              </a:lnSpc>
            </a:pPr>
            <a:r>
              <a:rPr lang="en" sz="2061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" sz="2061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92400" y="5880100"/>
            <a:ext cx="8191500" cy="6210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328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약점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(Weaknesses)</a:t>
            </a:r>
          </a:p>
          <a:p>
            <a:pPr algn="l" lvl="0">
              <a:lnSpc>
                <a:spcPct val="116199"/>
              </a:lnSpc>
            </a:pPr>
            <a:r>
              <a:rPr lang="en" sz="2328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장기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예측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성능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저하</a:t>
            </a:r>
          </a:p>
          <a:p>
            <a:pPr algn="l" lvl="2" indent="-342900" marL="638556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H=30: MSE 0.177 (H=5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대비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2.4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배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algn="l" lvl="2" indent="-342900" marL="638556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평균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회귀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경향</a:t>
            </a:r>
          </a:p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328" b="false" i="false" u="none" strike="noStrike">
                <a:solidFill>
                  <a:srgbClr val="000000"/>
                </a:solidFill>
                <a:latin typeface="Pretendard Regular"/>
              </a:rPr>
              <a:t>Amplitude Underestimation</a:t>
            </a:r>
          </a:p>
          <a:p>
            <a:pPr algn="l" lvl="2" indent="-342900" marL="638556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예측이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실제보다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완만</a:t>
            </a:r>
          </a:p>
          <a:p>
            <a:pPr algn="l" lvl="2" indent="-342900" marL="638556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극단값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포착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약함</a:t>
            </a:r>
          </a:p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Trend Following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한계</a:t>
            </a:r>
          </a:p>
          <a:p>
            <a:pPr algn="l" lvl="2" indent="-342900" marL="638556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급격한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하향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추세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덜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따라감</a:t>
            </a:r>
          </a:p>
          <a:p>
            <a:pPr algn="l" lvl="2" indent="-342900" marL="638556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보수적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예측</a:t>
            </a:r>
          </a:p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패턴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다양성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부족</a:t>
            </a:r>
          </a:p>
          <a:p>
            <a:pPr algn="l" lvl="2" indent="-342900" marL="638556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5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개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패턴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모두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비슷한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특성</a:t>
            </a:r>
          </a:p>
          <a:p>
            <a:pPr algn="l" lvl="2" indent="-342900" marL="638556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다른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유형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패턴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발견</a:t>
            </a:r>
            <a:r>
              <a:rPr lang="en-US" sz="23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28" b="false" i="false" u="none" strike="noStrike">
                <a:solidFill>
                  <a:srgbClr val="000000"/>
                </a:solidFill>
                <a:ea typeface="Pretendard Regular"/>
              </a:rPr>
              <a:t>못함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9024600" cy="16637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08. Conclusion &amp; Future 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p.43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95300" y="5080000"/>
            <a:ext cx="8877300" cy="749300"/>
          </a:xfrm>
          <a:prstGeom prst="rect">
            <a:avLst/>
          </a:prstGeom>
        </p:spPr>
        <p:txBody>
          <a:bodyPr anchor="t" rtlCol="false" lIns="0" tIns="47413" rIns="0" bIns="0"/>
          <a:lstStyle/>
          <a:p>
            <a:pPr algn="l" lvl="0">
              <a:lnSpc>
                <a:spcPct val="996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Bold"/>
              </a:rPr>
              <a:t>future work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95300" y="5905500"/>
            <a:ext cx="8813800" cy="3200400"/>
          </a:xfrm>
          <a:prstGeom prst="rect">
            <a:avLst/>
          </a:prstGeom>
        </p:spPr>
        <p:txBody>
          <a:bodyPr anchor="t" rtlCol="false" lIns="0" tIns="13547" rIns="0" bIns="0"/>
          <a:lstStyle/>
          <a:p>
            <a:pPr algn="l" lvl="1">
              <a:lnSpc>
                <a:spcPct val="107899"/>
              </a:lnSpc>
            </a:pP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SAC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외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다양한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RL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알고리즘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적용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(BCQ·TD3·GAIL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등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) →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더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역동적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학습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및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안정성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향상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  <a:p>
            <a:pPr algn="l" lvl="1">
              <a:lnSpc>
                <a:spcPct val="107899"/>
              </a:lnSpc>
            </a:pP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단일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학습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한계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극복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
: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여러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trajectory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를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함께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학습하는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multi-pattern policy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로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일반화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강화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  <a:p>
            <a:pPr algn="l" lvl="1">
              <a:lnSpc>
                <a:spcPct val="107899"/>
              </a:lnSpc>
            </a:pP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기존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시계열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매칭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/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예측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모델과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비교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연구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필요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:
DTW, Transformer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등과의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성능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차이를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명확히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규명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  <a:r>
              <a:rPr lang="en" sz="21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1">
              <a:lnSpc>
                <a:spcPct val="107899"/>
              </a:lnSpc>
            </a:pP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Conv1D_BC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기반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확장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실험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진행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:
(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최적화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, hybrid BC+RL, active discovery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고도화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, ensemble, adaptive horizon)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73400" y="5080000"/>
            <a:ext cx="8877300" cy="749300"/>
          </a:xfrm>
          <a:prstGeom prst="rect">
            <a:avLst/>
          </a:prstGeom>
        </p:spPr>
        <p:txBody>
          <a:bodyPr anchor="t" rtlCol="false" lIns="0" tIns="47413" rIns="0" bIns="0"/>
          <a:lstStyle/>
          <a:p>
            <a:pPr algn="l" lvl="0">
              <a:lnSpc>
                <a:spcPct val="996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Bold"/>
              </a:rPr>
              <a:t>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73400" y="5905500"/>
            <a:ext cx="8813800" cy="5702300"/>
          </a:xfrm>
          <a:prstGeom prst="rect">
            <a:avLst/>
          </a:prstGeom>
        </p:spPr>
        <p:txBody>
          <a:bodyPr anchor="t" rtlCol="false" lIns="0" tIns="13546" rIns="0" bIns="0"/>
          <a:lstStyle/>
          <a:p>
            <a:pPr algn="l" lvl="1">
              <a:lnSpc>
                <a:spcPct val="107899"/>
              </a:lnSpc>
            </a:pP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Latent-space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기반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매칭의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불완전성</a:t>
            </a:r>
          </a:p>
          <a:p>
            <a:pPr algn="l" lvl="0">
              <a:lnSpc>
                <a:spcPct val="107899"/>
              </a:lnSpc>
            </a:pP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에이전트가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latent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공간에서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높은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확신도로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패턴을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찾는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것은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확인되었으나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,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원본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시계열을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육안으로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비교했을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때는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완전히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일치하지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않는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구간이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존재하였다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.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이는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latent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공간과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실제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시계열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간의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구조적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차이에서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비롯된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한계로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보인다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.
</a:t>
            </a:r>
            <a:r>
              <a:rPr lang="en" sz="2133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2.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예측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결과의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시계열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수준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불일치</a:t>
            </a:r>
            <a:b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</a:b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현재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예측은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latent trajectory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상에서만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true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와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predicted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를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비교하고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있어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,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시계열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원공간에서의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재구성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(reconstruction)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기준과는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차이가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발생한다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.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향후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latent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예측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+ reconstruction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예측을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함께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평가해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실제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시계열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분석에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직접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활용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가능하도록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개선이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필요하다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.
3.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단일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구조에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의존한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반복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학습의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일반화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한계</a:t>
            </a:r>
            <a:b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</a:b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본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접근법은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동일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구조로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모방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·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매칭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·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예측을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모두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수행할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수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있다는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장점이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있으나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,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각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기능을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수행하기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위해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매번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별도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학습이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필요해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일반화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(generalization)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측면에서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비용이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크다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.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실제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다양한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패턴을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다루기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위해서는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보다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유연한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구조나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멀티태스크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학습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전략이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2133" b="false" i="false" u="none" strike="noStrike">
                <a:solidFill>
                  <a:srgbClr val="000000"/>
                </a:solidFill>
                <a:ea typeface="Heebo ExtraLight"/>
              </a:rPr>
              <a:t>요구된다</a:t>
            </a:r>
            <a:r>
              <a:rPr lang="en-US" sz="2133" b="false" i="false" u="none" strike="noStrike">
                <a:solidFill>
                  <a:srgbClr val="000000"/>
                </a:solidFill>
                <a:latin typeface="Heebo ExtraLight"/>
              </a:rPr>
              <a:t>.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70000" cy="334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63800" y="2082800"/>
            <a:ext cx="19024600" cy="1663700"/>
          </a:xfrm>
          <a:prstGeom prst="rect">
            <a:avLst/>
          </a:prstGeom>
        </p:spPr>
        <p:txBody>
          <a:bodyPr anchor="t" rtlCol="false" lIns="0" tIns="237066" rIns="0" bIns="0"/>
          <a:lstStyle/>
          <a:p>
            <a:pPr algn="l" lvl="0">
              <a:lnSpc>
                <a:spcPct val="83000"/>
              </a:lnSpc>
            </a:pPr>
            <a:r>
              <a:rPr lang="en" sz="9333" b="false" i="false" u="none" strike="noStrike" spc="-467">
                <a:solidFill>
                  <a:srgbClr val="000000"/>
                </a:solidFill>
                <a:latin typeface="Lexend Bold"/>
              </a:rPr>
              <a:t>08. Conclusion &amp; Future 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20000" y="965200"/>
            <a:ext cx="1612900" cy="3810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  |  p.45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3800" y="1244600"/>
            <a:ext cx="13017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Heebo Light"/>
              </a:rPr>
              <a:t>Pattern-Conditioned Latent Reinforcement Learning for Time-Series Representation &amp; Forecasting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73400" y="5080000"/>
            <a:ext cx="8877300" cy="749300"/>
          </a:xfrm>
          <a:prstGeom prst="rect">
            <a:avLst/>
          </a:prstGeom>
        </p:spPr>
        <p:txBody>
          <a:bodyPr anchor="t" rtlCol="false" lIns="0" tIns="47413" rIns="0" bIns="0"/>
          <a:lstStyle/>
          <a:p>
            <a:pPr algn="l" lvl="0">
              <a:lnSpc>
                <a:spcPct val="99600"/>
              </a:lnSpc>
            </a:pPr>
            <a:r>
              <a:rPr lang="en" sz="3733" b="false" i="false" u="none" strike="noStrike">
                <a:solidFill>
                  <a:srgbClr val="000000"/>
                </a:solidFill>
                <a:latin typeface="Heebo ExtraBold"/>
              </a:rPr>
              <a:t>Question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73400" y="6172200"/>
            <a:ext cx="19773900" cy="4051300"/>
          </a:xfrm>
          <a:prstGeom prst="rect">
            <a:avLst/>
          </a:prstGeom>
        </p:spPr>
        <p:txBody>
          <a:bodyPr anchor="t" rtlCol="false" lIns="0" tIns="22013" rIns="0" bIns="0"/>
          <a:lstStyle/>
          <a:p>
            <a:pPr algn="l" lvl="0">
              <a:lnSpc>
                <a:spcPct val="1078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Q1. latent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차원에서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에이전트가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패턴을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포착하는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것과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raw data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에서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패턴을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포착하는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것에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있어서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어떤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것이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더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시계열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매칭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및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예측의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측면에서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적절하다고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할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수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있을까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?</a:t>
            </a:r>
          </a:p>
          <a:p>
            <a:pPr algn="l" lvl="0">
              <a:lnSpc>
                <a:spcPct val="107899"/>
              </a:lnSpc>
            </a:pPr>
            <a:r>
              <a:rPr lang="en" sz="3466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Q2.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강화학습을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시계열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데이터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패턴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매칭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및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예측에서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다른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선형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모델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,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혹은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Deep neural network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모델을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사용하는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것에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비교하여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가지는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이점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및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단점은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무엇이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 </a:t>
            </a:r>
            <a:r>
              <a:rPr lang="ko-KR" sz="3466" b="false" i="false" u="none" strike="noStrike">
                <a:solidFill>
                  <a:srgbClr val="000000"/>
                </a:solidFill>
                <a:ea typeface="Heebo ExtraLight"/>
              </a:rPr>
              <a:t>있을까</a:t>
            </a:r>
            <a:r>
              <a:rPr lang="en-US" sz="3466" b="false" i="false" u="none" strike="noStrike">
                <a:solidFill>
                  <a:srgbClr val="000000"/>
                </a:solidFill>
                <a:latin typeface="Heebo ExtraLight"/>
              </a:rPr>
              <a:t>?</a:t>
            </a:r>
          </a:p>
          <a:p>
            <a:pPr algn="l" lvl="0">
              <a:lnSpc>
                <a:spcPct val="107899"/>
              </a:lnSpc>
            </a:pPr>
            <a:r>
              <a:rPr lang="en" sz="3466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" sz="3466" b="false" i="false" u="none" strike="noStrike">
                <a:solidFill>
                  <a:srgbClr val="000000"/>
                </a:solidFill>
                <a:latin typeface="Heebo ExtraLight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